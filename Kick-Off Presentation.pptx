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68" r:id="rId4"/>
    <p:sldId id="303" r:id="rId5"/>
    <p:sldId id="306" r:id="rId6"/>
    <p:sldId id="261" r:id="rId7"/>
    <p:sldId id="266" r:id="rId8"/>
    <p:sldId id="262" r:id="rId9"/>
    <p:sldId id="263" r:id="rId10"/>
    <p:sldId id="264" r:id="rId11"/>
    <p:sldId id="265" r:id="rId12"/>
    <p:sldId id="270" r:id="rId13"/>
  </p:sldIdLst>
  <p:sldSz cx="12192000" cy="6858000"/>
  <p:notesSz cx="6858000" cy="9144000"/>
  <p:embeddedFontLst>
    <p:embeddedFont>
      <p:font typeface="Play" pitchFamily="2"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Egj88ro9Aa2QPWB7WnOFSIpqG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86"/>
    <p:restoredTop sz="94731"/>
  </p:normalViewPr>
  <p:slideViewPr>
    <p:cSldViewPr snapToGrid="0">
      <p:cViewPr>
        <p:scale>
          <a:sx n="146" d="100"/>
          <a:sy n="146" d="100"/>
        </p:scale>
        <p:origin x="752"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FFF027F3-8313-0FAF-635B-780217EB22D5}"/>
            </a:ext>
          </a:extLst>
        </p:cNvPr>
        <p:cNvGrpSpPr/>
        <p:nvPr/>
      </p:nvGrpSpPr>
      <p:grpSpPr>
        <a:xfrm>
          <a:off x="0" y="0"/>
          <a:ext cx="0" cy="0"/>
          <a:chOff x="0" y="0"/>
          <a:chExt cx="0" cy="0"/>
        </a:xfrm>
      </p:grpSpPr>
      <p:sp>
        <p:nvSpPr>
          <p:cNvPr id="147" name="Google Shape;147;p6:notes">
            <a:extLst>
              <a:ext uri="{FF2B5EF4-FFF2-40B4-BE49-F238E27FC236}">
                <a16:creationId xmlns:a16="http://schemas.microsoft.com/office/drawing/2014/main" id="{2B458CBD-6998-CA81-F816-94BE0F694C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a:extLst>
              <a:ext uri="{FF2B5EF4-FFF2-40B4-BE49-F238E27FC236}">
                <a16:creationId xmlns:a16="http://schemas.microsoft.com/office/drawing/2014/main" id="{4416443C-94CE-6F50-C5DC-9764950502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542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2"/>
          <p:cNvSpPr txBox="1">
            <a:spLocks noGrp="1"/>
          </p:cNvSpPr>
          <p:nvPr>
            <p:ph type="ctrTitle" hasCustomPrompt="1"/>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8AA5"/>
              </a:buClr>
              <a:buSzPts val="6000"/>
              <a:buFont typeface="Play"/>
              <a:buNone/>
              <a:defRPr sz="6000">
                <a:latin typeface="+mn-l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t>Title</a:t>
            </a:r>
            <a:endParaRPr dirty="0"/>
          </a:p>
        </p:txBody>
      </p:sp>
      <p:sp>
        <p:nvSpPr>
          <p:cNvPr id="19" name="Google Shape;19;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3"/>
          <p:cNvSpPr txBox="1">
            <a:spLocks noGrp="1"/>
          </p:cNvSpPr>
          <p:nvPr>
            <p:ph type="title" hasCustomPrompt="1"/>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latin typeface="Arial" panose="020B0604020202020204" pitchFamily="34" charset="0"/>
                <a:cs typeface="Arial" panose="020B0604020202020204" pitchFamily="34" charset="0"/>
              </a:rPr>
              <a:t>Title</a:t>
            </a:r>
            <a:endParaRPr dirty="0"/>
          </a:p>
        </p:txBody>
      </p:sp>
      <p:sp>
        <p:nvSpPr>
          <p:cNvPr id="25" name="Google Shape;25;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4"/>
          <p:cNvSpPr txBox="1">
            <a:spLocks noGrp="1"/>
          </p:cNvSpPr>
          <p:nvPr>
            <p:ph type="title" hasCustomPrompt="1"/>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latin typeface="Arial" panose="020B0604020202020204" pitchFamily="34" charset="0"/>
                <a:cs typeface="Arial" panose="020B0604020202020204" pitchFamily="34" charset="0"/>
              </a:rPr>
              <a:t>Title</a:t>
            </a:r>
            <a:endParaRPr dirty="0"/>
          </a:p>
        </p:txBody>
      </p:sp>
      <p:sp>
        <p:nvSpPr>
          <p:cNvPr id="31" name="Google Shape;31;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5"/>
          <p:cNvSpPr txBox="1">
            <a:spLocks noGrp="1"/>
          </p:cNvSpPr>
          <p:nvPr>
            <p:ph type="title" hasCustomPrompt="1"/>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8AA5"/>
              </a:buClr>
              <a:buSzPts val="6000"/>
              <a:buFont typeface="Play"/>
              <a:buNone/>
              <a:defRPr sz="600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latin typeface="Arial" panose="020B0604020202020204" pitchFamily="34" charset="0"/>
                <a:cs typeface="Arial" panose="020B0604020202020204" pitchFamily="34" charset="0"/>
              </a:rPr>
              <a:t>Title</a:t>
            </a:r>
            <a:endParaRPr dirty="0"/>
          </a:p>
        </p:txBody>
      </p:sp>
      <p:sp>
        <p:nvSpPr>
          <p:cNvPr id="38" name="Google Shape;38;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757575"/>
                </a:solidFill>
              </a:defRPr>
            </a:lvl1pPr>
            <a:lvl2pPr marL="914400" lvl="1" indent="-228600" algn="l">
              <a:lnSpc>
                <a:spcPct val="90000"/>
              </a:lnSpc>
              <a:spcBef>
                <a:spcPts val="500"/>
              </a:spcBef>
              <a:spcAft>
                <a:spcPts val="0"/>
              </a:spcAft>
              <a:buSzPts val="2000"/>
              <a:buNone/>
              <a:defRPr sz="2000">
                <a:solidFill>
                  <a:srgbClr val="757575"/>
                </a:solidFill>
              </a:defRPr>
            </a:lvl2pPr>
            <a:lvl3pPr marL="1371600" lvl="2" indent="-228600" algn="l">
              <a:lnSpc>
                <a:spcPct val="90000"/>
              </a:lnSpc>
              <a:spcBef>
                <a:spcPts val="500"/>
              </a:spcBef>
              <a:spcAft>
                <a:spcPts val="0"/>
              </a:spcAft>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9" name="Google Shape;3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16"/>
          <p:cNvSpPr txBox="1">
            <a:spLocks noGrp="1"/>
          </p:cNvSpPr>
          <p:nvPr>
            <p:ph type="title" hasCustomPrompt="1"/>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latin typeface="Arial" panose="020B0604020202020204" pitchFamily="34" charset="0"/>
                <a:cs typeface="Arial" panose="020B0604020202020204" pitchFamily="34" charset="0"/>
              </a:rPr>
              <a:t>Title</a:t>
            </a:r>
            <a:endParaRPr dirty="0"/>
          </a:p>
        </p:txBody>
      </p:sp>
      <p:sp>
        <p:nvSpPr>
          <p:cNvPr id="44" name="Google Shape;44;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17"/>
          <p:cNvSpPr txBox="1">
            <a:spLocks noGrp="1"/>
          </p:cNvSpPr>
          <p:nvPr>
            <p:ph type="title" hasCustomPrompt="1"/>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dirty="0">
                <a:latin typeface="Arial" panose="020B0604020202020204" pitchFamily="34" charset="0"/>
                <a:cs typeface="Arial" panose="020B0604020202020204" pitchFamily="34" charset="0"/>
              </a:rPr>
              <a:t>Title</a:t>
            </a:r>
            <a:endParaRPr dirty="0"/>
          </a:p>
        </p:txBody>
      </p:sp>
      <p:sp>
        <p:nvSpPr>
          <p:cNvPr id="53" name="Google Shape;5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8AA5"/>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SzPts val="3200"/>
              <a:buChar char="•"/>
              <a:defRPr sz="3200"/>
            </a:lvl1pPr>
            <a:lvl2pPr marL="914400" lvl="1" indent="-406400" algn="l">
              <a:lnSpc>
                <a:spcPct val="90000"/>
              </a:lnSpc>
              <a:spcBef>
                <a:spcPts val="500"/>
              </a:spcBef>
              <a:spcAft>
                <a:spcPts val="0"/>
              </a:spcAft>
              <a:buSzPts val="2800"/>
              <a:buChar char="o"/>
              <a:defRPr sz="2800"/>
            </a:lvl2pPr>
            <a:lvl3pPr marL="1371600" lvl="2" indent="-381000" algn="l">
              <a:lnSpc>
                <a:spcPct val="90000"/>
              </a:lnSpc>
              <a:spcBef>
                <a:spcPts val="500"/>
              </a:spcBef>
              <a:spcAft>
                <a:spcPts val="0"/>
              </a:spcAft>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8AA5"/>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0"/>
          <p:cNvSpPr>
            <a:spLocks noGrp="1"/>
          </p:cNvSpPr>
          <p:nvPr>
            <p:ph type="pic" idx="2"/>
          </p:nvPr>
        </p:nvSpPr>
        <p:spPr>
          <a:xfrm>
            <a:off x="5183188" y="987425"/>
            <a:ext cx="6172200" cy="4873625"/>
          </a:xfrm>
          <a:prstGeom prst="rect">
            <a:avLst/>
          </a:prstGeom>
          <a:noFill/>
          <a:ln>
            <a:noFill/>
          </a:ln>
        </p:spPr>
      </p:sp>
      <p:sp>
        <p:nvSpPr>
          <p:cNvPr id="70" name="Google Shape;70;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6"/>
        <p:cNvGrpSpPr/>
        <p:nvPr/>
      </p:nvGrpSpPr>
      <p:grpSpPr>
        <a:xfrm>
          <a:off x="0" y="0"/>
          <a:ext cx="0" cy="0"/>
          <a:chOff x="0" y="0"/>
          <a:chExt cx="0" cy="0"/>
        </a:xfrm>
      </p:grpSpPr>
      <p:sp>
        <p:nvSpPr>
          <p:cNvPr id="87" name="Google Shape;8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91" name="Google Shape;9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None/>
              <a:defRPr b="0">
                <a:solidFill>
                  <a:srgbClr val="004D9E"/>
                </a:solidFill>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2"/>
        <p:cNvGrpSpPr/>
        <p:nvPr/>
      </p:nvGrpSpPr>
      <p:grpSpPr>
        <a:xfrm>
          <a:off x="0" y="0"/>
          <a:ext cx="0" cy="0"/>
          <a:chOff x="0" y="0"/>
          <a:chExt cx="0" cy="0"/>
        </a:xfrm>
      </p:grpSpPr>
      <p:sp>
        <p:nvSpPr>
          <p:cNvPr id="93" name="Google Shape;9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AA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97" name="Google Shape;97;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None/>
              <a:defRPr i="1">
                <a:solidFill>
                  <a:srgbClr val="00BB64"/>
                </a:solidFill>
              </a:defRPr>
            </a:lvl1pPr>
            <a:lvl2pPr marL="914400" lvl="1" indent="-342900" algn="l">
              <a:lnSpc>
                <a:spcPct val="90000"/>
              </a:lnSpc>
              <a:spcBef>
                <a:spcPts val="500"/>
              </a:spcBef>
              <a:spcAft>
                <a:spcPts val="0"/>
              </a:spcAft>
              <a:buSzPts val="1800"/>
              <a:buChar char="o"/>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1" descr="A white background with black and white clouds&#10;&#10;Description automatically generated"/>
          <p:cNvPicPr preferRelativeResize="0"/>
          <p:nvPr/>
        </p:nvPicPr>
        <p:blipFill rotWithShape="1">
          <a:blip r:embed="rId15">
            <a:alphaModFix/>
          </a:blip>
          <a:srcRect/>
          <a:stretch/>
        </p:blipFill>
        <p:spPr>
          <a:xfrm>
            <a:off x="0" y="0"/>
            <a:ext cx="12192000" cy="6858000"/>
          </a:xfrm>
          <a:prstGeom prst="rect">
            <a:avLst/>
          </a:prstGeom>
          <a:noFill/>
          <a:ln>
            <a:noFill/>
          </a:ln>
        </p:spPr>
      </p:pic>
      <p:sp>
        <p:nvSpPr>
          <p:cNvPr id="11" name="Google Shape;1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8AA5"/>
              </a:buClr>
              <a:buSzPts val="4400"/>
              <a:buFont typeface="Play"/>
              <a:buNone/>
              <a:defRPr sz="4400" b="0" i="0" u="none" strike="noStrike" cap="none">
                <a:solidFill>
                  <a:srgbClr val="008AA5"/>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GB" dirty="0">
                <a:latin typeface="Arial" panose="020B0604020202020204" pitchFamily="34" charset="0"/>
                <a:cs typeface="Arial" panose="020B0604020202020204" pitchFamily="34" charset="0"/>
              </a:rPr>
              <a:t>Heading</a:t>
            </a:r>
            <a:endParaRPr dirty="0"/>
          </a:p>
        </p:txBody>
      </p:sp>
      <p:sp>
        <p:nvSpPr>
          <p:cNvPr id="12" name="Google Shape;12;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4D9E"/>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rgbClr val="00BB64"/>
              </a:buClr>
              <a:buSzPts val="2400"/>
              <a:buFont typeface="Courier New"/>
              <a:buChar char="o"/>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rgbClr val="FCAF00"/>
              </a:buClr>
              <a:buSzPts val="2000"/>
              <a:buFont typeface="Noto Sans Symbols"/>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3" name="Google Shape;1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6" name="Google Shape;16;p11" descr="A blue circle with yellow and green stripes&#10;&#10;Description automatically generated"/>
          <p:cNvPicPr preferRelativeResize="0"/>
          <p:nvPr/>
        </p:nvPicPr>
        <p:blipFill rotWithShape="1">
          <a:blip r:embed="rId16">
            <a:alphaModFix/>
          </a:blip>
          <a:srcRect/>
          <a:stretch/>
        </p:blipFill>
        <p:spPr>
          <a:xfrm>
            <a:off x="11449939" y="6075553"/>
            <a:ext cx="645922" cy="6459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phereppl.zulipchat.com/join/olwtpi7g3wbyh5mxv4uwipaw/"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PHERE-PPL/HFC-Lyme-Diseas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github.com/SPHERE-PPL/Competition-Example-Mpox" TargetMode="External"/><Relationship Id="rId4" Type="http://schemas.openxmlformats.org/officeDocument/2006/relationships/hyperlink" Target="https://sphere-ppl.org/pages/Forecasting_Contest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mailto:info@sphere-ppl.org" TargetMode="External"/><Relationship Id="rId2" Type="http://schemas.openxmlformats.org/officeDocument/2006/relationships/hyperlink" Target="http://www.sphere-ppl.org/"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8AA5"/>
              </a:buClr>
              <a:buSzPts val="6000"/>
              <a:buFont typeface="Play"/>
              <a:buNone/>
            </a:pPr>
            <a:r>
              <a:rPr lang="en-GB" dirty="0"/>
              <a:t>NHS Forecasting Contest Kick-Off</a:t>
            </a:r>
            <a:endParaRPr dirty="0"/>
          </a:p>
        </p:txBody>
      </p:sp>
      <p:sp>
        <p:nvSpPr>
          <p:cNvPr id="103" name="Google Shape;103;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000"/>
              <a:buNone/>
            </a:pPr>
            <a:r>
              <a:rPr lang="en-GB" sz="2000" dirty="0">
                <a:solidFill>
                  <a:schemeClr val="accent3"/>
                </a:solidFill>
              </a:rPr>
              <a:t>Rich Wood, Nick Howlett, Alex Rabeau, Will Pearse</a:t>
            </a:r>
            <a:endParaRPr dirty="0"/>
          </a:p>
          <a:p>
            <a:pPr marL="0" lvl="0" indent="0" algn="ctr" rtl="0">
              <a:lnSpc>
                <a:spcPct val="90000"/>
              </a:lnSpc>
              <a:spcBef>
                <a:spcPts val="1000"/>
              </a:spcBef>
              <a:spcAft>
                <a:spcPts val="0"/>
              </a:spcAft>
              <a:buSzPts val="2000"/>
              <a:buNone/>
            </a:pPr>
            <a:r>
              <a:rPr lang="en-GB" sz="2000" dirty="0">
                <a:solidFill>
                  <a:schemeClr val="accent3"/>
                </a:solidFill>
                <a:highlight>
                  <a:srgbClr val="FFFF00"/>
                </a:highlight>
              </a:rPr>
              <a:t>11</a:t>
            </a:r>
            <a:r>
              <a:rPr lang="en-GB" sz="2000" baseline="30000" dirty="0">
                <a:solidFill>
                  <a:schemeClr val="accent3"/>
                </a:solidFill>
                <a:highlight>
                  <a:srgbClr val="FFFF00"/>
                </a:highlight>
              </a:rPr>
              <a:t>th</a:t>
            </a:r>
            <a:r>
              <a:rPr lang="en-GB" sz="2000" dirty="0">
                <a:solidFill>
                  <a:schemeClr val="accent3"/>
                </a:solidFill>
                <a:highlight>
                  <a:srgbClr val="FFFF00"/>
                </a:highlight>
              </a:rPr>
              <a:t> February 2026</a:t>
            </a:r>
            <a:endParaRPr dirty="0">
              <a:highlight>
                <a:srgbClr val="FFFF00"/>
              </a:highlight>
            </a:endParaRPr>
          </a:p>
        </p:txBody>
      </p:sp>
      <p:sp>
        <p:nvSpPr>
          <p:cNvPr id="104" name="Google Shape;104;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a:t>Spatial, Health &amp; Environmental Research Using Probabilistic Programming Languages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a:t>Outline</a:t>
            </a:r>
            <a:endParaRPr/>
          </a:p>
        </p:txBody>
      </p:sp>
      <p:grpSp>
        <p:nvGrpSpPr>
          <p:cNvPr id="110" name="Google Shape;110;p2"/>
          <p:cNvGrpSpPr/>
          <p:nvPr/>
        </p:nvGrpSpPr>
        <p:grpSpPr>
          <a:xfrm>
            <a:off x="2297258" y="1693277"/>
            <a:ext cx="7597483" cy="4349570"/>
            <a:chOff x="1459058" y="883"/>
            <a:chExt cx="7597483" cy="4349570"/>
          </a:xfrm>
        </p:grpSpPr>
        <p:sp>
          <p:nvSpPr>
            <p:cNvPr id="111" name="Google Shape;111;p2"/>
            <p:cNvSpPr/>
            <p:nvPr/>
          </p:nvSpPr>
          <p:spPr>
            <a:xfrm rot="10800000">
              <a:off x="2063667" y="883"/>
              <a:ext cx="6992874" cy="1209216"/>
            </a:xfrm>
            <a:prstGeom prst="homePlate">
              <a:avLst>
                <a:gd name="adj" fmla="val 50000"/>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txBox="1"/>
            <p:nvPr/>
          </p:nvSpPr>
          <p:spPr>
            <a:xfrm>
              <a:off x="2365971" y="883"/>
              <a:ext cx="6690570" cy="1209216"/>
            </a:xfrm>
            <a:prstGeom prst="rect">
              <a:avLst/>
            </a:prstGeom>
            <a:noFill/>
            <a:ln>
              <a:noFill/>
            </a:ln>
          </p:spPr>
          <p:txBody>
            <a:bodyPr spcFirstLastPara="1" wrap="square" lIns="533225" tIns="125725" rIns="234675" bIns="125725" anchor="ctr" anchorCtr="0">
              <a:noAutofit/>
            </a:bodyPr>
            <a:lstStyle/>
            <a:p>
              <a:pPr marL="0" marR="0" lvl="0" indent="0" algn="ctr" rtl="0">
                <a:lnSpc>
                  <a:spcPct val="90000"/>
                </a:lnSpc>
                <a:spcBef>
                  <a:spcPts val="0"/>
                </a:spcBef>
                <a:spcAft>
                  <a:spcPts val="0"/>
                </a:spcAft>
                <a:buClr>
                  <a:schemeClr val="lt1"/>
                </a:buClr>
                <a:buSzPts val="3300"/>
                <a:buFont typeface="Arial"/>
                <a:buNone/>
              </a:pPr>
              <a:r>
                <a:rPr lang="en-GB" sz="3300" b="0" i="0" u="none" strike="noStrike" cap="none" dirty="0">
                  <a:solidFill>
                    <a:schemeClr val="lt1"/>
                  </a:solidFill>
                  <a:latin typeface="Arial"/>
                  <a:ea typeface="Arial"/>
                  <a:cs typeface="Arial"/>
                  <a:sym typeface="Arial"/>
                </a:rPr>
                <a:t>Introduction from SPHERE-PPL Team</a:t>
              </a:r>
              <a:endParaRPr dirty="0"/>
            </a:p>
          </p:txBody>
        </p:sp>
        <p:sp>
          <p:nvSpPr>
            <p:cNvPr id="113" name="Google Shape;113;p2"/>
            <p:cNvSpPr/>
            <p:nvPr/>
          </p:nvSpPr>
          <p:spPr>
            <a:xfrm>
              <a:off x="1459058" y="883"/>
              <a:ext cx="1209216" cy="1209216"/>
            </a:xfrm>
            <a:prstGeom prst="ellipse">
              <a:avLst/>
            </a:prstGeom>
            <a:blipFill rotWithShape="1">
              <a:blip r:embed="rId3">
                <a:alphaModFix/>
              </a:blip>
              <a:stretch>
                <a:fillRect l="-24998" r="-24998"/>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rot="10800000">
              <a:off x="2063667" y="1571060"/>
              <a:ext cx="6992874" cy="1209216"/>
            </a:xfrm>
            <a:prstGeom prst="homePlate">
              <a:avLst>
                <a:gd name="adj" fmla="val 50000"/>
              </a:avLst>
            </a:prstGeom>
            <a:solidFill>
              <a:srgbClr val="00BB6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txBox="1"/>
            <p:nvPr/>
          </p:nvSpPr>
          <p:spPr>
            <a:xfrm>
              <a:off x="2365971" y="1571060"/>
              <a:ext cx="6690570" cy="1209216"/>
            </a:xfrm>
            <a:prstGeom prst="rect">
              <a:avLst/>
            </a:prstGeom>
            <a:noFill/>
            <a:ln>
              <a:noFill/>
            </a:ln>
          </p:spPr>
          <p:txBody>
            <a:bodyPr spcFirstLastPara="1" wrap="square" lIns="533225" tIns="125725" rIns="234675" bIns="125725" anchor="ctr" anchorCtr="0">
              <a:noAutofit/>
            </a:bodyPr>
            <a:lstStyle/>
            <a:p>
              <a:pPr marL="0" marR="0" lvl="0" indent="0" algn="ctr" rtl="0">
                <a:lnSpc>
                  <a:spcPct val="90000"/>
                </a:lnSpc>
                <a:spcBef>
                  <a:spcPts val="0"/>
                </a:spcBef>
                <a:spcAft>
                  <a:spcPts val="0"/>
                </a:spcAft>
                <a:buClr>
                  <a:schemeClr val="lt1"/>
                </a:buClr>
                <a:buSzPts val="3300"/>
                <a:buFont typeface="Arial"/>
                <a:buNone/>
              </a:pPr>
              <a:r>
                <a:rPr lang="en-GB" sz="3300" b="0" i="0" u="none" strike="noStrike" cap="none" dirty="0">
                  <a:solidFill>
                    <a:schemeClr val="lt1"/>
                  </a:solidFill>
                  <a:latin typeface="Arial"/>
                  <a:ea typeface="Arial"/>
                  <a:cs typeface="Arial"/>
                  <a:sym typeface="Arial"/>
                </a:rPr>
                <a:t>Contest, Timeline &amp; Communication</a:t>
              </a:r>
              <a:endParaRPr dirty="0"/>
            </a:p>
          </p:txBody>
        </p:sp>
        <p:sp>
          <p:nvSpPr>
            <p:cNvPr id="116" name="Google Shape;116;p2"/>
            <p:cNvSpPr/>
            <p:nvPr/>
          </p:nvSpPr>
          <p:spPr>
            <a:xfrm>
              <a:off x="1459058" y="1571060"/>
              <a:ext cx="1209216" cy="1209216"/>
            </a:xfrm>
            <a:prstGeom prst="ellipse">
              <a:avLst/>
            </a:prstGeom>
            <a:blipFill rotWithShape="1">
              <a:blip r:embed="rId4">
                <a:alphaModFix/>
              </a:blip>
              <a:stretch>
                <a:fillRect l="-24998" r="-24998"/>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rot="10800000">
              <a:off x="2063667" y="3141237"/>
              <a:ext cx="6992874" cy="1209216"/>
            </a:xfrm>
            <a:prstGeom prst="homePlate">
              <a:avLst>
                <a:gd name="adj" fmla="val 50000"/>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txBox="1"/>
            <p:nvPr/>
          </p:nvSpPr>
          <p:spPr>
            <a:xfrm>
              <a:off x="2365971" y="3141237"/>
              <a:ext cx="6690570" cy="1209216"/>
            </a:xfrm>
            <a:prstGeom prst="rect">
              <a:avLst/>
            </a:prstGeom>
            <a:noFill/>
            <a:ln>
              <a:noFill/>
            </a:ln>
          </p:spPr>
          <p:txBody>
            <a:bodyPr spcFirstLastPara="1" wrap="square" lIns="533225" tIns="125725" rIns="234675" bIns="125725" anchor="ctr" anchorCtr="0">
              <a:noAutofit/>
            </a:bodyPr>
            <a:lstStyle/>
            <a:p>
              <a:pPr marL="0" marR="0" lvl="0" indent="0" algn="ctr" rtl="0">
                <a:lnSpc>
                  <a:spcPct val="90000"/>
                </a:lnSpc>
                <a:spcBef>
                  <a:spcPts val="0"/>
                </a:spcBef>
                <a:spcAft>
                  <a:spcPts val="0"/>
                </a:spcAft>
                <a:buClr>
                  <a:schemeClr val="lt1"/>
                </a:buClr>
                <a:buSzPts val="3300"/>
                <a:buFont typeface="Arial"/>
                <a:buNone/>
              </a:pPr>
              <a:r>
                <a:rPr lang="en-GB" sz="3300" b="0" i="0" u="none" strike="noStrike" cap="none">
                  <a:solidFill>
                    <a:schemeClr val="lt1"/>
                  </a:solidFill>
                  <a:latin typeface="Arial"/>
                  <a:ea typeface="Arial"/>
                  <a:cs typeface="Arial"/>
                  <a:sym typeface="Arial"/>
                </a:rPr>
                <a:t>Getting Started</a:t>
              </a:r>
              <a:endParaRPr/>
            </a:p>
          </p:txBody>
        </p:sp>
        <p:sp>
          <p:nvSpPr>
            <p:cNvPr id="119" name="Google Shape;119;p2"/>
            <p:cNvSpPr/>
            <p:nvPr/>
          </p:nvSpPr>
          <p:spPr>
            <a:xfrm>
              <a:off x="1459058" y="3141237"/>
              <a:ext cx="1209216" cy="1209216"/>
            </a:xfrm>
            <a:prstGeom prst="ellipse">
              <a:avLst/>
            </a:prstGeom>
            <a:blipFill rotWithShape="1">
              <a:blip r:embed="rId5">
                <a:alphaModFix/>
              </a:blip>
              <a:stretch>
                <a:fillRect l="-23999" r="-23999"/>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C4ABB-EBB0-489A-DAED-7D4E2276365D}"/>
              </a:ext>
            </a:extLst>
          </p:cNvPr>
          <p:cNvSpPr>
            <a:spLocks noGrp="1"/>
          </p:cNvSpPr>
          <p:nvPr>
            <p:ph type="title"/>
          </p:nvPr>
        </p:nvSpPr>
        <p:spPr/>
        <p:txBody>
          <a:bodyPr/>
          <a:lstStyle/>
          <a:p>
            <a:r>
              <a:rPr lang="en-GB" dirty="0"/>
              <a:t>What is SPHERE-PPL doing?</a:t>
            </a:r>
          </a:p>
        </p:txBody>
      </p:sp>
      <p:sp>
        <p:nvSpPr>
          <p:cNvPr id="3" name="Text Placeholder 2">
            <a:extLst>
              <a:ext uri="{FF2B5EF4-FFF2-40B4-BE49-F238E27FC236}">
                <a16:creationId xmlns:a16="http://schemas.microsoft.com/office/drawing/2014/main" id="{92A5E6A0-A1AC-005B-4D73-2A8DAE931DB4}"/>
              </a:ext>
            </a:extLst>
          </p:cNvPr>
          <p:cNvSpPr>
            <a:spLocks noGrp="1"/>
          </p:cNvSpPr>
          <p:nvPr>
            <p:ph type="body" idx="1"/>
          </p:nvPr>
        </p:nvSpPr>
        <p:spPr>
          <a:xfrm>
            <a:off x="838200" y="1825625"/>
            <a:ext cx="4435258" cy="4351338"/>
          </a:xfrm>
        </p:spPr>
        <p:txBody>
          <a:bodyPr/>
          <a:lstStyle/>
          <a:p>
            <a:r>
              <a:rPr lang="en-GB" dirty="0"/>
              <a:t>Contests</a:t>
            </a:r>
          </a:p>
          <a:p>
            <a:r>
              <a:rPr lang="en-GB" dirty="0"/>
              <a:t>Training</a:t>
            </a:r>
          </a:p>
          <a:p>
            <a:r>
              <a:rPr lang="en-GB" dirty="0"/>
              <a:t>Networking</a:t>
            </a:r>
          </a:p>
          <a:p>
            <a:r>
              <a:rPr lang="en-GB" dirty="0"/>
              <a:t>Research</a:t>
            </a:r>
          </a:p>
        </p:txBody>
      </p:sp>
      <p:grpSp>
        <p:nvGrpSpPr>
          <p:cNvPr id="4" name="Group 3">
            <a:extLst>
              <a:ext uri="{FF2B5EF4-FFF2-40B4-BE49-F238E27FC236}">
                <a16:creationId xmlns:a16="http://schemas.microsoft.com/office/drawing/2014/main" id="{27AA7915-AF24-C0DB-3082-812F5652367A}"/>
              </a:ext>
            </a:extLst>
          </p:cNvPr>
          <p:cNvGrpSpPr/>
          <p:nvPr/>
        </p:nvGrpSpPr>
        <p:grpSpPr>
          <a:xfrm>
            <a:off x="5926966" y="1407271"/>
            <a:ext cx="4746896" cy="2359995"/>
            <a:chOff x="5926966" y="1407271"/>
            <a:chExt cx="4746896" cy="2359995"/>
          </a:xfrm>
        </p:grpSpPr>
        <p:pic>
          <p:nvPicPr>
            <p:cNvPr id="1030" name="Picture 6">
              <a:extLst>
                <a:ext uri="{FF2B5EF4-FFF2-40B4-BE49-F238E27FC236}">
                  <a16:creationId xmlns:a16="http://schemas.microsoft.com/office/drawing/2014/main" id="{940DC77F-55C0-E515-B102-DCB245923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966" y="1407271"/>
              <a:ext cx="2375207" cy="158308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2DEED136-EDC5-2CC2-27D6-2B56710F19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3630" y="1407271"/>
              <a:ext cx="2110232" cy="158308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4CBAA1D-6F92-9697-2B54-0ED356D06E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757" y="2990356"/>
              <a:ext cx="3310832" cy="776910"/>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a:extLst>
              <a:ext uri="{FF2B5EF4-FFF2-40B4-BE49-F238E27FC236}">
                <a16:creationId xmlns:a16="http://schemas.microsoft.com/office/drawing/2014/main" id="{AF347CFA-D2BE-385F-2FF9-D7649795B1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3763" y="4127438"/>
            <a:ext cx="3939390" cy="221706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D6F5315-EF0F-C4F5-0492-F02CAA73B4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82550" y="4102339"/>
            <a:ext cx="3571250" cy="2515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905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229C7-B04A-EC89-1074-F88F1E56B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C9A4C-6066-EE56-4A17-F5BB8C89AA45}"/>
              </a:ext>
            </a:extLst>
          </p:cNvPr>
          <p:cNvSpPr>
            <a:spLocks noGrp="1"/>
          </p:cNvSpPr>
          <p:nvPr>
            <p:ph type="title"/>
          </p:nvPr>
        </p:nvSpPr>
        <p:spPr>
          <a:xfrm>
            <a:off x="838200" y="365125"/>
            <a:ext cx="10515600" cy="1325563"/>
          </a:xfrm>
        </p:spPr>
        <p:txBody>
          <a:bodyPr anchor="ctr">
            <a:normAutofit/>
          </a:bodyPr>
          <a:lstStyle/>
          <a:p>
            <a:r>
              <a:rPr lang="en-GB" dirty="0"/>
              <a:t>Introduction</a:t>
            </a:r>
          </a:p>
        </p:txBody>
      </p:sp>
      <p:sp>
        <p:nvSpPr>
          <p:cNvPr id="3" name="Content Placeholder 2">
            <a:extLst>
              <a:ext uri="{FF2B5EF4-FFF2-40B4-BE49-F238E27FC236}">
                <a16:creationId xmlns:a16="http://schemas.microsoft.com/office/drawing/2014/main" id="{24DF6E62-3EFD-13C7-1675-C13529E3DE14}"/>
              </a:ext>
            </a:extLst>
          </p:cNvPr>
          <p:cNvSpPr>
            <a:spLocks noGrp="1"/>
          </p:cNvSpPr>
          <p:nvPr>
            <p:ph sz="half" idx="1"/>
          </p:nvPr>
        </p:nvSpPr>
        <p:spPr>
          <a:xfrm>
            <a:off x="838200" y="1825625"/>
            <a:ext cx="7052353" cy="4351338"/>
          </a:xfrm>
        </p:spPr>
        <p:txBody>
          <a:bodyPr>
            <a:normAutofit/>
          </a:bodyPr>
          <a:lstStyle/>
          <a:p>
            <a:r>
              <a:rPr lang="en-GB" dirty="0"/>
              <a:t>Delays in admitting Emergency Department (ED) patients occur when no hospital beds are available after a decision to admit.</a:t>
            </a:r>
          </a:p>
          <a:p>
            <a:endParaRPr lang="en-GB" dirty="0"/>
          </a:p>
          <a:p>
            <a:r>
              <a:rPr lang="en-GB" dirty="0"/>
              <a:t>Each 4-hour delay increases the odds of 30-day mortality by 8%, equivalent to around 25 avoidable deaths per month in Bristol.</a:t>
            </a:r>
          </a:p>
        </p:txBody>
      </p:sp>
      <p:sp>
        <p:nvSpPr>
          <p:cNvPr id="4" name="Footer Placeholder 3">
            <a:extLst>
              <a:ext uri="{FF2B5EF4-FFF2-40B4-BE49-F238E27FC236}">
                <a16:creationId xmlns:a16="http://schemas.microsoft.com/office/drawing/2014/main" id="{072E6391-E0F9-C379-6E2B-2EC3B2307ABB}"/>
              </a:ext>
            </a:extLst>
          </p:cNvPr>
          <p:cNvSpPr>
            <a:spLocks noGrp="1"/>
          </p:cNvSpPr>
          <p:nvPr>
            <p:ph type="ftr" sz="quarter" idx="11"/>
          </p:nvPr>
        </p:nvSpPr>
        <p:spPr>
          <a:xfrm>
            <a:off x="4038600" y="6356350"/>
            <a:ext cx="4114800" cy="365125"/>
          </a:xfrm>
        </p:spPr>
        <p:txBody>
          <a:bodyPr anchor="ctr">
            <a:normAutofit fontScale="92500" lnSpcReduction="10000"/>
          </a:bodyPr>
          <a:lstStyle/>
          <a:p>
            <a:pPr>
              <a:lnSpc>
                <a:spcPct val="90000"/>
              </a:lnSpc>
              <a:spcAft>
                <a:spcPts val="600"/>
              </a:spcAft>
            </a:pPr>
            <a:r>
              <a:rPr lang="en-US" sz="900"/>
              <a:t>Spatial, Health &amp; Environmental Research using Probabilistic Programming Languages</a:t>
            </a:r>
          </a:p>
        </p:txBody>
      </p:sp>
      <p:pic>
        <p:nvPicPr>
          <p:cNvPr id="1026" name="Picture 2" descr="South West region shown within England">
            <a:extLst>
              <a:ext uri="{FF2B5EF4-FFF2-40B4-BE49-F238E27FC236}">
                <a16:creationId xmlns:a16="http://schemas.microsoft.com/office/drawing/2014/main" id="{9F3285CB-D66F-B9B4-B9C3-46C4C005E9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8662" y="806914"/>
            <a:ext cx="2235138" cy="27145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re than 500 deaths in England last year after long ambulance wait | NHS |  The Guardian">
            <a:extLst>
              <a:ext uri="{FF2B5EF4-FFF2-40B4-BE49-F238E27FC236}">
                <a16:creationId xmlns:a16="http://schemas.microsoft.com/office/drawing/2014/main" id="{54AEFD61-841A-A1CC-AC92-BE2C95DBF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3776663"/>
            <a:ext cx="3200400"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39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004B-F873-F407-3A96-D9FF6F42F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1DF27-D499-27D3-5E8F-49EAF83BA0B3}"/>
              </a:ext>
            </a:extLst>
          </p:cNvPr>
          <p:cNvSpPr>
            <a:spLocks noGrp="1"/>
          </p:cNvSpPr>
          <p:nvPr>
            <p:ph type="title"/>
          </p:nvPr>
        </p:nvSpPr>
        <p:spPr>
          <a:xfrm>
            <a:off x="838200" y="365125"/>
            <a:ext cx="10515600" cy="1325563"/>
          </a:xfrm>
        </p:spPr>
        <p:txBody>
          <a:bodyPr anchor="ctr">
            <a:normAutofit/>
          </a:bodyPr>
          <a:lstStyle/>
          <a:p>
            <a:r>
              <a:rPr lang="en-GB" dirty="0"/>
              <a:t>Data</a:t>
            </a:r>
          </a:p>
        </p:txBody>
      </p:sp>
      <p:sp>
        <p:nvSpPr>
          <p:cNvPr id="3" name="Content Placeholder 2">
            <a:extLst>
              <a:ext uri="{FF2B5EF4-FFF2-40B4-BE49-F238E27FC236}">
                <a16:creationId xmlns:a16="http://schemas.microsoft.com/office/drawing/2014/main" id="{D289DED8-2BCF-C1C2-CC94-8BB086FA3CD4}"/>
              </a:ext>
            </a:extLst>
          </p:cNvPr>
          <p:cNvSpPr>
            <a:spLocks noGrp="1"/>
          </p:cNvSpPr>
          <p:nvPr>
            <p:ph sz="half" idx="1"/>
          </p:nvPr>
        </p:nvSpPr>
        <p:spPr>
          <a:xfrm>
            <a:off x="838198" y="1825625"/>
            <a:ext cx="7315201" cy="4351338"/>
          </a:xfrm>
        </p:spPr>
        <p:txBody>
          <a:bodyPr>
            <a:normAutofit/>
          </a:bodyPr>
          <a:lstStyle/>
          <a:p>
            <a:r>
              <a:rPr lang="en-GB" dirty="0"/>
              <a:t>Predictors: </a:t>
            </a:r>
          </a:p>
          <a:p>
            <a:pPr lvl="1"/>
            <a:r>
              <a:rPr lang="en-GB" dirty="0"/>
              <a:t>220 variables</a:t>
            </a:r>
          </a:p>
          <a:p>
            <a:pPr lvl="1"/>
            <a:r>
              <a:rPr lang="en-GB" dirty="0"/>
              <a:t>Hospital, ambulance, ED, primary care</a:t>
            </a:r>
          </a:p>
          <a:p>
            <a:r>
              <a:rPr lang="en-GB" dirty="0"/>
              <a:t>Outcome variable: Estimated avoidable deaths</a:t>
            </a:r>
          </a:p>
          <a:p>
            <a:r>
              <a:rPr lang="en-GB" dirty="0"/>
              <a:t>2.5 years of data (Mar 2023 – Sep 2025)</a:t>
            </a:r>
          </a:p>
          <a:p>
            <a:pPr lvl="1"/>
            <a:r>
              <a:rPr lang="en-GB" dirty="0"/>
              <a:t>15 min – 24 hr temporal resolution</a:t>
            </a:r>
          </a:p>
        </p:txBody>
      </p:sp>
      <p:sp>
        <p:nvSpPr>
          <p:cNvPr id="4" name="Footer Placeholder 3">
            <a:extLst>
              <a:ext uri="{FF2B5EF4-FFF2-40B4-BE49-F238E27FC236}">
                <a16:creationId xmlns:a16="http://schemas.microsoft.com/office/drawing/2014/main" id="{758FF046-C513-0FBB-3C02-5BCC9206A815}"/>
              </a:ext>
            </a:extLst>
          </p:cNvPr>
          <p:cNvSpPr>
            <a:spLocks noGrp="1"/>
          </p:cNvSpPr>
          <p:nvPr>
            <p:ph type="ftr" sz="quarter" idx="11"/>
          </p:nvPr>
        </p:nvSpPr>
        <p:spPr>
          <a:xfrm>
            <a:off x="4038600" y="6356350"/>
            <a:ext cx="4114800" cy="365125"/>
          </a:xfrm>
        </p:spPr>
        <p:txBody>
          <a:bodyPr anchor="ctr">
            <a:normAutofit fontScale="92500" lnSpcReduction="10000"/>
          </a:bodyPr>
          <a:lstStyle/>
          <a:p>
            <a:pPr>
              <a:lnSpc>
                <a:spcPct val="90000"/>
              </a:lnSpc>
              <a:spcAft>
                <a:spcPts val="600"/>
              </a:spcAft>
            </a:pPr>
            <a:r>
              <a:rPr lang="en-US" sz="900"/>
              <a:t>Spatial, Health &amp; Environmental Research using Probabilistic Programming Languages</a:t>
            </a:r>
          </a:p>
        </p:txBody>
      </p:sp>
      <p:pic>
        <p:nvPicPr>
          <p:cNvPr id="5" name="Picture 4" descr="A graph showing a number of data&#10;&#10;AI-generated content may be incorrect.">
            <a:extLst>
              <a:ext uri="{FF2B5EF4-FFF2-40B4-BE49-F238E27FC236}">
                <a16:creationId xmlns:a16="http://schemas.microsoft.com/office/drawing/2014/main" id="{6D31E27A-5137-225A-1BB7-012222F09B0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3399" y="4173861"/>
            <a:ext cx="3204892" cy="2003102"/>
          </a:xfrm>
          <a:prstGeom prst="rect">
            <a:avLst/>
          </a:prstGeom>
          <a:noFill/>
          <a:ln>
            <a:noFill/>
          </a:ln>
        </p:spPr>
      </p:pic>
      <p:pic>
        <p:nvPicPr>
          <p:cNvPr id="6" name="Picture 5">
            <a:extLst>
              <a:ext uri="{FF2B5EF4-FFF2-40B4-BE49-F238E27FC236}">
                <a16:creationId xmlns:a16="http://schemas.microsoft.com/office/drawing/2014/main" id="{D670247B-F07F-376B-6BBD-7C1D7D9C4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8717794" y="365125"/>
            <a:ext cx="2636006" cy="3727904"/>
          </a:xfrm>
          <a:prstGeom prst="rect">
            <a:avLst/>
          </a:prstGeom>
          <a:noFill/>
          <a:ln>
            <a:noFill/>
          </a:ln>
        </p:spPr>
      </p:pic>
    </p:spTree>
    <p:extLst>
      <p:ext uri="{BB962C8B-B14F-4D97-AF65-F5344CB8AC3E}">
        <p14:creationId xmlns:p14="http://schemas.microsoft.com/office/powerpoint/2010/main" val="368118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a:t>Contest Outputs</a:t>
            </a:r>
            <a:endParaRPr/>
          </a:p>
        </p:txBody>
      </p:sp>
      <p:sp>
        <p:nvSpPr>
          <p:cNvPr id="151" name="Google Shape;15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800"/>
              <a:buNone/>
            </a:pPr>
            <a:r>
              <a:rPr lang="en-GB" b="1" i="1" dirty="0">
                <a:solidFill>
                  <a:srgbClr val="004D9E"/>
                </a:solidFill>
              </a:rPr>
              <a:t>For this contest, we are looking to forecast Estimated Number of Avoidable Deaths across 1 - 10 day horizons. Forecasts and reports should be saved into the submission folder, matching the template found within.</a:t>
            </a:r>
          </a:p>
          <a:p>
            <a:pPr marL="0" lvl="0" indent="0" algn="l" rtl="0">
              <a:lnSpc>
                <a:spcPct val="90000"/>
              </a:lnSpc>
              <a:spcBef>
                <a:spcPts val="0"/>
              </a:spcBef>
              <a:spcAft>
                <a:spcPts val="0"/>
              </a:spcAft>
              <a:buSzPts val="2800"/>
              <a:buNone/>
            </a:pPr>
            <a:endParaRPr lang="en-GB" sz="2000" b="1" i="1" u="sng" dirty="0"/>
          </a:p>
          <a:p>
            <a:r>
              <a:rPr lang="en-GB" dirty="0"/>
              <a:t>The </a:t>
            </a:r>
            <a:r>
              <a:rPr lang="en-GB" b="1" dirty="0"/>
              <a:t>winning model</a:t>
            </a:r>
            <a:r>
              <a:rPr lang="en-GB" dirty="0"/>
              <a:t> will be implemented in the </a:t>
            </a:r>
            <a:r>
              <a:rPr lang="en-GB" b="1" dirty="0"/>
              <a:t>Bristol NHS</a:t>
            </a:r>
            <a:r>
              <a:rPr lang="en-GB" dirty="0"/>
              <a:t> system to provide early warnings and support </a:t>
            </a:r>
            <a:r>
              <a:rPr lang="en-GB" b="1" dirty="0"/>
              <a:t>pre-emptive management action</a:t>
            </a:r>
            <a:r>
              <a:rPr lang="en-GB" dirty="0"/>
              <a:t>.</a:t>
            </a:r>
          </a:p>
          <a:p>
            <a:r>
              <a:rPr lang="en-GB" dirty="0"/>
              <a:t>All data used are </a:t>
            </a:r>
            <a:r>
              <a:rPr lang="en-GB" b="1" dirty="0"/>
              <a:t>real-world hospital data</a:t>
            </a:r>
            <a:r>
              <a:rPr lang="en-GB"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E99021C5-BC89-50DD-4EED-35CF36BAC6F7}"/>
            </a:ext>
          </a:extLst>
        </p:cNvPr>
        <p:cNvGrpSpPr/>
        <p:nvPr/>
      </p:nvGrpSpPr>
      <p:grpSpPr>
        <a:xfrm>
          <a:off x="0" y="0"/>
          <a:ext cx="0" cy="0"/>
          <a:chOff x="0" y="0"/>
          <a:chExt cx="0" cy="0"/>
        </a:xfrm>
      </p:grpSpPr>
      <p:sp>
        <p:nvSpPr>
          <p:cNvPr id="150" name="Google Shape;150;p6">
            <a:extLst>
              <a:ext uri="{FF2B5EF4-FFF2-40B4-BE49-F238E27FC236}">
                <a16:creationId xmlns:a16="http://schemas.microsoft.com/office/drawing/2014/main" id="{D024A081-C064-8360-910C-EF87FCA500C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dirty="0"/>
              <a:t>Contest Rules</a:t>
            </a:r>
            <a:endParaRPr dirty="0"/>
          </a:p>
        </p:txBody>
      </p:sp>
      <p:sp>
        <p:nvSpPr>
          <p:cNvPr id="151" name="Google Shape;151;p6">
            <a:extLst>
              <a:ext uri="{FF2B5EF4-FFF2-40B4-BE49-F238E27FC236}">
                <a16:creationId xmlns:a16="http://schemas.microsoft.com/office/drawing/2014/main" id="{B7897F16-2C62-1D76-7002-0DF363671D7C}"/>
              </a:ext>
            </a:extLst>
          </p:cNvPr>
          <p:cNvSpPr txBox="1">
            <a:spLocks noGrp="1"/>
          </p:cNvSpPr>
          <p:nvPr>
            <p:ph type="body" idx="1"/>
          </p:nvPr>
        </p:nvSpPr>
        <p:spPr>
          <a:xfrm>
            <a:off x="838200" y="1825625"/>
            <a:ext cx="5605558" cy="4351338"/>
          </a:xfrm>
          <a:prstGeom prst="rect">
            <a:avLst/>
          </a:prstGeom>
          <a:noFill/>
          <a:ln>
            <a:noFill/>
          </a:ln>
        </p:spPr>
        <p:txBody>
          <a:bodyPr spcFirstLastPara="1" wrap="square" lIns="91425" tIns="45700" rIns="91425" bIns="45700" anchor="t" anchorCtr="0">
            <a:normAutofit/>
          </a:bodyPr>
          <a:lstStyle/>
          <a:p>
            <a:pPr algn="l">
              <a:spcAft>
                <a:spcPts val="1200"/>
              </a:spcAft>
              <a:buFont typeface="Arial" panose="020B0604020202020204" pitchFamily="34" charset="0"/>
              <a:buChar char="•"/>
            </a:pPr>
            <a:r>
              <a:rPr lang="en-GB" sz="1800" b="0" i="0" dirty="0">
                <a:solidFill>
                  <a:schemeClr val="tx1"/>
                </a:solidFill>
                <a:effectLst/>
                <a:latin typeface="Arial" panose="020B0604020202020204" pitchFamily="34" charset="0"/>
                <a:cs typeface="Arial" panose="020B0604020202020204" pitchFamily="34" charset="0"/>
              </a:rPr>
              <a:t>Any coding languages are allowed but all analyses must be reproducible by the panel.</a:t>
            </a:r>
          </a:p>
          <a:p>
            <a:pPr algn="l">
              <a:spcAft>
                <a:spcPts val="1200"/>
              </a:spcAft>
              <a:buFont typeface="Arial" panose="020B0604020202020204" pitchFamily="34" charset="0"/>
              <a:buChar char="•"/>
            </a:pPr>
            <a:r>
              <a:rPr lang="en-GB" sz="1800" b="0" i="0" dirty="0">
                <a:solidFill>
                  <a:schemeClr val="tx1"/>
                </a:solidFill>
                <a:effectLst/>
                <a:latin typeface="Arial" panose="020B0604020202020204" pitchFamily="34" charset="0"/>
                <a:cs typeface="Arial" panose="020B0604020202020204" pitchFamily="34" charset="0"/>
              </a:rPr>
              <a:t>All entries must be loaded into a public </a:t>
            </a:r>
            <a:r>
              <a:rPr lang="en-GB" sz="1800" b="0" i="0" dirty="0" err="1">
                <a:solidFill>
                  <a:schemeClr val="tx1"/>
                </a:solidFill>
                <a:effectLst/>
                <a:latin typeface="Arial" panose="020B0604020202020204" pitchFamily="34" charset="0"/>
                <a:cs typeface="Arial" panose="020B0604020202020204" pitchFamily="34" charset="0"/>
              </a:rPr>
              <a:t>Github</a:t>
            </a:r>
            <a:r>
              <a:rPr lang="en-GB" sz="1800" b="0" i="0" dirty="0">
                <a:solidFill>
                  <a:schemeClr val="tx1"/>
                </a:solidFill>
                <a:effectLst/>
                <a:latin typeface="Arial" panose="020B0604020202020204" pitchFamily="34" charset="0"/>
                <a:cs typeface="Arial" panose="020B0604020202020204" pitchFamily="34" charset="0"/>
              </a:rPr>
              <a:t> repo.</a:t>
            </a:r>
          </a:p>
          <a:p>
            <a:pPr algn="l">
              <a:spcAft>
                <a:spcPts val="1200"/>
              </a:spcAft>
              <a:buFont typeface="Arial" panose="020B0604020202020204" pitchFamily="34" charset="0"/>
              <a:buChar char="•"/>
            </a:pPr>
            <a:r>
              <a:rPr lang="en-GB" sz="1800" b="0" i="0" dirty="0">
                <a:solidFill>
                  <a:schemeClr val="tx1"/>
                </a:solidFill>
                <a:effectLst/>
                <a:latin typeface="Arial" panose="020B0604020202020204" pitchFamily="34" charset="0"/>
                <a:cs typeface="Arial" panose="020B0604020202020204" pitchFamily="34" charset="0"/>
              </a:rPr>
              <a:t>All entries must follow the submission formats outlined below.</a:t>
            </a:r>
          </a:p>
          <a:p>
            <a:pPr algn="l">
              <a:spcAft>
                <a:spcPts val="1200"/>
              </a:spcAft>
              <a:buFont typeface="Arial" panose="020B0604020202020204" pitchFamily="34" charset="0"/>
              <a:buChar char="•"/>
            </a:pPr>
            <a:r>
              <a:rPr lang="en-GB" sz="1800" b="0" i="0" dirty="0">
                <a:solidFill>
                  <a:schemeClr val="tx1"/>
                </a:solidFill>
                <a:effectLst/>
                <a:latin typeface="Arial" panose="020B0604020202020204" pitchFamily="34" charset="0"/>
                <a:cs typeface="Arial" panose="020B0604020202020204" pitchFamily="34" charset="0"/>
              </a:rPr>
              <a:t>All entries must include a max 1000 word report to accompany the forecast analyses. This can be as a separate PDF/</a:t>
            </a:r>
            <a:r>
              <a:rPr lang="en-GB" sz="1800" b="0" i="0" dirty="0" err="1">
                <a:solidFill>
                  <a:schemeClr val="tx1"/>
                </a:solidFill>
                <a:effectLst/>
                <a:latin typeface="Arial" panose="020B0604020202020204" pitchFamily="34" charset="0"/>
                <a:cs typeface="Arial" panose="020B0604020202020204" pitchFamily="34" charset="0"/>
              </a:rPr>
              <a:t>hmtl</a:t>
            </a:r>
            <a:r>
              <a:rPr lang="en-GB" sz="1800" b="0" i="0" dirty="0">
                <a:solidFill>
                  <a:schemeClr val="tx1"/>
                </a:solidFill>
                <a:effectLst/>
                <a:latin typeface="Arial" panose="020B0604020202020204" pitchFamily="34" charset="0"/>
                <a:cs typeface="Arial" panose="020B0604020202020204" pitchFamily="34" charset="0"/>
              </a:rPr>
              <a:t> or incorporated into a quarto/</a:t>
            </a:r>
            <a:r>
              <a:rPr lang="en-GB" sz="1800" b="0" i="0" dirty="0" err="1">
                <a:solidFill>
                  <a:schemeClr val="tx1"/>
                </a:solidFill>
                <a:effectLst/>
                <a:latin typeface="Arial" panose="020B0604020202020204" pitchFamily="34" charset="0"/>
                <a:cs typeface="Arial" panose="020B0604020202020204" pitchFamily="34" charset="0"/>
              </a:rPr>
              <a:t>jupyter</a:t>
            </a:r>
            <a:r>
              <a:rPr lang="en-GB" sz="1800" b="0" i="0" dirty="0">
                <a:solidFill>
                  <a:schemeClr val="tx1"/>
                </a:solidFill>
                <a:effectLst/>
                <a:latin typeface="Arial" panose="020B0604020202020204" pitchFamily="34" charset="0"/>
                <a:cs typeface="Arial" panose="020B0604020202020204" pitchFamily="34" charset="0"/>
              </a:rPr>
              <a:t> notebook.</a:t>
            </a:r>
          </a:p>
          <a:p>
            <a:pPr marL="228600" lvl="1" indent="0" algn="l" rtl="0">
              <a:lnSpc>
                <a:spcPct val="90000"/>
              </a:lnSpc>
              <a:spcBef>
                <a:spcPts val="500"/>
              </a:spcBef>
              <a:spcAft>
                <a:spcPts val="0"/>
              </a:spcAft>
              <a:buSzPts val="2400"/>
              <a:buNone/>
            </a:pPr>
            <a:endParaRPr b="0" i="0" dirty="0"/>
          </a:p>
          <a:p>
            <a:pPr marL="228600" lvl="0" indent="-50800" algn="l" rtl="0">
              <a:lnSpc>
                <a:spcPct val="90000"/>
              </a:lnSpc>
              <a:spcBef>
                <a:spcPts val="1000"/>
              </a:spcBef>
              <a:spcAft>
                <a:spcPts val="0"/>
              </a:spcAft>
              <a:buSzPts val="2800"/>
              <a:buNone/>
            </a:pPr>
            <a:endParaRPr dirty="0"/>
          </a:p>
        </p:txBody>
      </p:sp>
      <p:pic>
        <p:nvPicPr>
          <p:cNvPr id="1026" name="Picture 2" descr="GitHub Logo and symbol, meaning, history, PNG, brand">
            <a:extLst>
              <a:ext uri="{FF2B5EF4-FFF2-40B4-BE49-F238E27FC236}">
                <a16:creationId xmlns:a16="http://schemas.microsoft.com/office/drawing/2014/main" id="{5126CDC2-7F2A-62DC-F0E5-B8A029B3E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5611" y="365124"/>
            <a:ext cx="2356557" cy="13255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ublish and Share with Quarto :: Cheatsheet">
            <a:extLst>
              <a:ext uri="{FF2B5EF4-FFF2-40B4-BE49-F238E27FC236}">
                <a16:creationId xmlns:a16="http://schemas.microsoft.com/office/drawing/2014/main" id="{3CE46F74-630B-DEE8-F57C-F9D664030A7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581651" y="1825625"/>
            <a:ext cx="3024475" cy="1701266"/>
          </a:xfrm>
          <a:prstGeom prst="rect">
            <a:avLst/>
          </a:prstGeom>
          <a:solidFill>
            <a:srgbClr val="FFFFFF"/>
          </a:solidFill>
        </p:spPr>
      </p:pic>
      <p:pic>
        <p:nvPicPr>
          <p:cNvPr id="1028" name="Picture 4" descr="Top Programming Languages for Data Scientists [2025]">
            <a:extLst>
              <a:ext uri="{FF2B5EF4-FFF2-40B4-BE49-F238E27FC236}">
                <a16:creationId xmlns:a16="http://schemas.microsoft.com/office/drawing/2014/main" id="{FB747882-FBF8-07ED-2700-F32791D72DA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6376" b="17136"/>
          <a:stretch/>
        </p:blipFill>
        <p:spPr bwMode="auto">
          <a:xfrm>
            <a:off x="7234784" y="3526891"/>
            <a:ext cx="3718207" cy="2197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25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dirty="0"/>
              <a:t>Contest Winners</a:t>
            </a:r>
            <a:endParaRPr dirty="0"/>
          </a:p>
        </p:txBody>
      </p:sp>
      <p:sp>
        <p:nvSpPr>
          <p:cNvPr id="159" name="Google Shape;159;p7"/>
          <p:cNvSpPr txBox="1"/>
          <p:nvPr/>
        </p:nvSpPr>
        <p:spPr>
          <a:xfrm>
            <a:off x="7795544" y="2272706"/>
            <a:ext cx="3309991" cy="359881"/>
          </a:xfrm>
          <a:prstGeom prst="rect">
            <a:avLst/>
          </a:prstGeom>
          <a:noFill/>
          <a:ln>
            <a:noFill/>
          </a:ln>
        </p:spPr>
        <p:txBody>
          <a:bodyPr spcFirstLastPara="1" wrap="square" lIns="91425" tIns="45700" rIns="91425" bIns="45700" anchor="t" anchorCtr="0">
            <a:normAutofit fontScale="85000" lnSpcReduction="20000"/>
          </a:bodyPr>
          <a:lstStyle/>
          <a:p>
            <a:pPr marL="228600" marR="0" lvl="0" indent="-90804" algn="l" rtl="0">
              <a:lnSpc>
                <a:spcPct val="90000"/>
              </a:lnSpc>
              <a:spcBef>
                <a:spcPts val="0"/>
              </a:spcBef>
              <a:spcAft>
                <a:spcPts val="0"/>
              </a:spcAft>
              <a:buClr>
                <a:srgbClr val="004D9E"/>
              </a:buClr>
              <a:buSzPct val="100000"/>
              <a:buFont typeface="Arial"/>
              <a:buNone/>
            </a:pPr>
            <a:endParaRPr sz="2800" b="0">
              <a:solidFill>
                <a:schemeClr val="dk1"/>
              </a:solidFill>
              <a:latin typeface="Arial"/>
              <a:ea typeface="Arial"/>
              <a:cs typeface="Arial"/>
              <a:sym typeface="Arial"/>
            </a:endParaRPr>
          </a:p>
        </p:txBody>
      </p:sp>
      <p:sp>
        <p:nvSpPr>
          <p:cNvPr id="160" name="Google Shape;160;p7"/>
          <p:cNvSpPr txBox="1"/>
          <p:nvPr/>
        </p:nvSpPr>
        <p:spPr>
          <a:xfrm>
            <a:off x="1196462" y="2289579"/>
            <a:ext cx="3601065" cy="537747"/>
          </a:xfrm>
          <a:prstGeom prst="rect">
            <a:avLst/>
          </a:prstGeom>
          <a:noFill/>
          <a:ln>
            <a:noFill/>
          </a:ln>
        </p:spPr>
        <p:txBody>
          <a:bodyPr spcFirstLastPara="1" wrap="square" lIns="91425" tIns="45700" rIns="91425" bIns="45700" anchor="t" anchorCtr="0">
            <a:normAutofit/>
          </a:bodyPr>
          <a:lstStyle/>
          <a:p>
            <a:pPr marL="228600" marR="0" lvl="0" indent="-50800" algn="l" rtl="0">
              <a:lnSpc>
                <a:spcPct val="90000"/>
              </a:lnSpc>
              <a:spcBef>
                <a:spcPts val="0"/>
              </a:spcBef>
              <a:spcAft>
                <a:spcPts val="0"/>
              </a:spcAft>
              <a:buClr>
                <a:srgbClr val="004D9E"/>
              </a:buClr>
              <a:buSzPts val="2800"/>
              <a:buFont typeface="Arial"/>
              <a:buNone/>
            </a:pPr>
            <a:endParaRPr sz="2800" b="1" i="1">
              <a:solidFill>
                <a:srgbClr val="FFC000"/>
              </a:solidFill>
              <a:latin typeface="Arial"/>
              <a:ea typeface="Arial"/>
              <a:cs typeface="Arial"/>
              <a:sym typeface="Arial"/>
            </a:endParaRPr>
          </a:p>
          <a:p>
            <a:pPr marL="514350" marR="0" lvl="0" indent="-336550" algn="l" rtl="0">
              <a:lnSpc>
                <a:spcPct val="90000"/>
              </a:lnSpc>
              <a:spcBef>
                <a:spcPts val="1000"/>
              </a:spcBef>
              <a:spcAft>
                <a:spcPts val="0"/>
              </a:spcAft>
              <a:buClr>
                <a:srgbClr val="004D9E"/>
              </a:buClr>
              <a:buSzPts val="2800"/>
              <a:buFont typeface="Arial"/>
              <a:buNone/>
            </a:pPr>
            <a:endParaRPr sz="2800" b="0">
              <a:solidFill>
                <a:srgbClr val="FFC000"/>
              </a:solidFill>
              <a:latin typeface="Arial"/>
              <a:ea typeface="Arial"/>
              <a:cs typeface="Arial"/>
              <a:sym typeface="Arial"/>
            </a:endParaRPr>
          </a:p>
          <a:p>
            <a:pPr marL="228600" marR="0" lvl="0" indent="-50800" algn="l" rtl="0">
              <a:lnSpc>
                <a:spcPct val="90000"/>
              </a:lnSpc>
              <a:spcBef>
                <a:spcPts val="1000"/>
              </a:spcBef>
              <a:spcAft>
                <a:spcPts val="0"/>
              </a:spcAft>
              <a:buClr>
                <a:srgbClr val="004D9E"/>
              </a:buClr>
              <a:buSzPts val="2800"/>
              <a:buFont typeface="Arial"/>
              <a:buNone/>
            </a:pPr>
            <a:endParaRPr sz="2800" b="0">
              <a:solidFill>
                <a:schemeClr val="dk1"/>
              </a:solidFill>
              <a:latin typeface="Arial"/>
              <a:ea typeface="Arial"/>
              <a:cs typeface="Arial"/>
              <a:sym typeface="Arial"/>
            </a:endParaRPr>
          </a:p>
        </p:txBody>
      </p:sp>
      <p:sp>
        <p:nvSpPr>
          <p:cNvPr id="161" name="Google Shape;16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SzPts val="2400"/>
              <a:buNone/>
            </a:pPr>
            <a:r>
              <a:rPr lang="en-GB" sz="2400" dirty="0">
                <a:solidFill>
                  <a:schemeClr val="tx1"/>
                </a:solidFill>
              </a:rPr>
              <a:t>Awards will be given across two categories:</a:t>
            </a:r>
          </a:p>
          <a:p>
            <a:pPr marL="0" lvl="0" indent="0" algn="l" rtl="0">
              <a:lnSpc>
                <a:spcPct val="100000"/>
              </a:lnSpc>
              <a:spcBef>
                <a:spcPts val="0"/>
              </a:spcBef>
              <a:spcAft>
                <a:spcPts val="0"/>
              </a:spcAft>
              <a:buSzPts val="2400"/>
              <a:buNone/>
            </a:pPr>
            <a:endParaRPr lang="en-GB" sz="2400" dirty="0">
              <a:solidFill>
                <a:schemeClr val="tx1"/>
              </a:solidFill>
            </a:endParaRPr>
          </a:p>
          <a:p>
            <a:pPr marL="0" lvl="0" indent="0" algn="l" rtl="0">
              <a:lnSpc>
                <a:spcPct val="100000"/>
              </a:lnSpc>
              <a:spcBef>
                <a:spcPts val="0"/>
              </a:spcBef>
              <a:spcAft>
                <a:spcPts val="0"/>
              </a:spcAft>
              <a:buSzPts val="2400"/>
              <a:buNone/>
            </a:pPr>
            <a:r>
              <a:rPr lang="en-GB" sz="2400" dirty="0">
                <a:solidFill>
                  <a:schemeClr val="tx1"/>
                </a:solidFill>
              </a:rPr>
              <a:t>1. One prize will be given for the lowest MSE_1to5d. </a:t>
            </a:r>
          </a:p>
          <a:p>
            <a:pPr marL="0" lvl="0" indent="0" algn="l" rtl="0">
              <a:lnSpc>
                <a:spcPct val="100000"/>
              </a:lnSpc>
              <a:spcBef>
                <a:spcPts val="0"/>
              </a:spcBef>
              <a:spcAft>
                <a:spcPts val="0"/>
              </a:spcAft>
              <a:buSzPts val="2400"/>
              <a:buNone/>
            </a:pPr>
            <a:endParaRPr lang="en-GB" sz="2400" dirty="0">
              <a:solidFill>
                <a:schemeClr val="tx1"/>
              </a:solidFill>
            </a:endParaRPr>
          </a:p>
          <a:p>
            <a:pPr marL="0" lvl="0" indent="0" algn="l" rtl="0">
              <a:lnSpc>
                <a:spcPct val="100000"/>
              </a:lnSpc>
              <a:spcBef>
                <a:spcPts val="0"/>
              </a:spcBef>
              <a:spcAft>
                <a:spcPts val="0"/>
              </a:spcAft>
              <a:buSzPts val="2400"/>
              <a:buNone/>
            </a:pPr>
            <a:r>
              <a:rPr lang="en-GB" sz="2400" dirty="0">
                <a:solidFill>
                  <a:schemeClr val="tx1"/>
                </a:solidFill>
              </a:rPr>
              <a:t>2. One prize will be given for the lowest MSE_6to10d.</a:t>
            </a:r>
          </a:p>
          <a:p>
            <a:pPr marL="0" lvl="0" indent="0" algn="l" rtl="0">
              <a:lnSpc>
                <a:spcPct val="100000"/>
              </a:lnSpc>
              <a:spcBef>
                <a:spcPts val="0"/>
              </a:spcBef>
              <a:spcAft>
                <a:spcPts val="0"/>
              </a:spcAft>
              <a:buSzPts val="2400"/>
              <a:buNone/>
            </a:pPr>
            <a:endParaRPr lang="en-GB" sz="2400" dirty="0">
              <a:solidFill>
                <a:schemeClr val="tx1"/>
              </a:solidFill>
            </a:endParaRPr>
          </a:p>
          <a:p>
            <a:pPr marL="0" lvl="0" indent="0" algn="l" rtl="0">
              <a:lnSpc>
                <a:spcPct val="100000"/>
              </a:lnSpc>
              <a:spcBef>
                <a:spcPts val="0"/>
              </a:spcBef>
              <a:spcAft>
                <a:spcPts val="0"/>
              </a:spcAft>
              <a:buSzPts val="2400"/>
              <a:buNone/>
            </a:pPr>
            <a:r>
              <a:rPr lang="en-GB" sz="2400" dirty="0">
                <a:solidFill>
                  <a:schemeClr val="tx1"/>
                </a:solidFill>
              </a:rPr>
              <a:t>All winning teams will be assessed by the competition authors to ensure that the reported MSEs can be replicated with the submitted models, and to check all above restrictions are satisfied.</a:t>
            </a:r>
          </a:p>
          <a:p>
            <a:pPr marL="0" lvl="0" indent="0" algn="l" rtl="0">
              <a:lnSpc>
                <a:spcPct val="100000"/>
              </a:lnSpc>
              <a:spcBef>
                <a:spcPts val="0"/>
              </a:spcBef>
              <a:spcAft>
                <a:spcPts val="0"/>
              </a:spcAft>
              <a:buSzPts val="2400"/>
              <a:buNone/>
            </a:pPr>
            <a:endParaRPr lang="en-GB" sz="2400" dirty="0">
              <a:solidFill>
                <a:schemeClr val="tx1"/>
              </a:solidFill>
            </a:endParaRPr>
          </a:p>
          <a:p>
            <a:pPr marL="0" lvl="0" indent="0" algn="l" rtl="0">
              <a:lnSpc>
                <a:spcPct val="100000"/>
              </a:lnSpc>
              <a:spcBef>
                <a:spcPts val="0"/>
              </a:spcBef>
              <a:spcAft>
                <a:spcPts val="0"/>
              </a:spcAft>
              <a:buSzPts val="2400"/>
              <a:buNone/>
            </a:pPr>
            <a:r>
              <a:rPr lang="en-GB" sz="2400" dirty="0">
                <a:solidFill>
                  <a:schemeClr val="tx1"/>
                </a:solidFill>
              </a:rPr>
              <a:t>The winners will be selected by the SPHERE-PPL Team and will be invited to present their forecasts at the next Annual Meeting, with travel covered by the project.</a:t>
            </a:r>
          </a:p>
          <a:p>
            <a:pPr marL="0" lvl="0" indent="0" algn="l" rtl="0">
              <a:lnSpc>
                <a:spcPct val="90000"/>
              </a:lnSpc>
              <a:spcBef>
                <a:spcPts val="2200"/>
              </a:spcBef>
              <a:spcAft>
                <a:spcPts val="0"/>
              </a:spcAft>
              <a:buSzPts val="2800"/>
              <a:buNone/>
            </a:pPr>
            <a:endParaRPr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Google Shape;182;p8">
            <a:extLst>
              <a:ext uri="{FF2B5EF4-FFF2-40B4-BE49-F238E27FC236}">
                <a16:creationId xmlns:a16="http://schemas.microsoft.com/office/drawing/2014/main" id="{121B3011-705D-A1DB-A156-E97BEE551F14}"/>
              </a:ext>
            </a:extLst>
          </p:cNvPr>
          <p:cNvSpPr/>
          <p:nvPr/>
        </p:nvSpPr>
        <p:spPr>
          <a:xfrm>
            <a:off x="838200" y="5075339"/>
            <a:ext cx="3785616" cy="802969"/>
          </a:xfrm>
          <a:prstGeom prst="roundRect">
            <a:avLst>
              <a:gd name="adj" fmla="val 16667"/>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 name="Google Shape;16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a:t>Contest Timeline</a:t>
            </a:r>
            <a:endParaRPr/>
          </a:p>
        </p:txBody>
      </p:sp>
      <p:grpSp>
        <p:nvGrpSpPr>
          <p:cNvPr id="167" name="Google Shape;167;p8"/>
          <p:cNvGrpSpPr/>
          <p:nvPr/>
        </p:nvGrpSpPr>
        <p:grpSpPr>
          <a:xfrm>
            <a:off x="838200" y="1743018"/>
            <a:ext cx="10515599" cy="3332321"/>
            <a:chOff x="0" y="2177"/>
            <a:chExt cx="10515599" cy="4346982"/>
          </a:xfrm>
        </p:grpSpPr>
        <p:sp>
          <p:nvSpPr>
            <p:cNvPr id="168" name="Google Shape;168;p8"/>
            <p:cNvSpPr/>
            <p:nvPr/>
          </p:nvSpPr>
          <p:spPr>
            <a:xfrm rot="5400000">
              <a:off x="6731621" y="-2839081"/>
              <a:ext cx="837972" cy="6729984"/>
            </a:xfrm>
            <a:prstGeom prst="round2SameRect">
              <a:avLst>
                <a:gd name="adj1" fmla="val 16667"/>
                <a:gd name="adj2" fmla="val 0"/>
              </a:avLst>
            </a:prstGeom>
            <a:solidFill>
              <a:srgbClr val="FEE3C8">
                <a:alpha val="89803"/>
              </a:srgbClr>
            </a:solidFill>
            <a:ln w="19050" cap="flat" cmpd="sng">
              <a:solidFill>
                <a:srgbClr val="FEE3C8">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txBox="1"/>
            <p:nvPr/>
          </p:nvSpPr>
          <p:spPr>
            <a:xfrm>
              <a:off x="3785615" y="147831"/>
              <a:ext cx="6689078" cy="756160"/>
            </a:xfrm>
            <a:prstGeom prst="rect">
              <a:avLst/>
            </a:prstGeom>
            <a:noFill/>
            <a:ln>
              <a:noFill/>
            </a:ln>
          </p:spPr>
          <p:txBody>
            <a:bodyPr spcFirstLastPara="1" wrap="square" lIns="87625" tIns="43800" rIns="87625" bIns="43800" anchor="ctr"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GB" sz="2300" b="0" i="0" u="none" strike="noStrike" cap="none" dirty="0">
                  <a:solidFill>
                    <a:schemeClr val="dk1"/>
                  </a:solidFill>
                  <a:latin typeface="Arial"/>
                  <a:ea typeface="Arial"/>
                  <a:cs typeface="Arial"/>
                  <a:sym typeface="Arial"/>
                </a:rPr>
                <a:t>Competition launch, including the release of the development dataset. </a:t>
              </a:r>
              <a:endParaRPr dirty="0"/>
            </a:p>
          </p:txBody>
        </p:sp>
        <p:sp>
          <p:nvSpPr>
            <p:cNvPr id="170" name="Google Shape;170;p8"/>
            <p:cNvSpPr/>
            <p:nvPr/>
          </p:nvSpPr>
          <p:spPr>
            <a:xfrm>
              <a:off x="0" y="2177"/>
              <a:ext cx="3785616" cy="1047465"/>
            </a:xfrm>
            <a:prstGeom prst="roundRect">
              <a:avLst>
                <a:gd name="adj" fmla="val 16667"/>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txBox="1"/>
            <p:nvPr/>
          </p:nvSpPr>
          <p:spPr>
            <a:xfrm>
              <a:off x="51133" y="53310"/>
              <a:ext cx="3683350" cy="945199"/>
            </a:xfrm>
            <a:prstGeom prst="rect">
              <a:avLst/>
            </a:prstGeom>
            <a:noFill/>
            <a:ln>
              <a:noFill/>
            </a:ln>
          </p:spPr>
          <p:txBody>
            <a:bodyPr spcFirstLastPara="1" wrap="square" lIns="110475" tIns="55225" rIns="110475" bIns="5522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GB" sz="2900" dirty="0">
                  <a:solidFill>
                    <a:schemeClr val="lt1"/>
                  </a:solidFill>
                  <a:latin typeface="Arial"/>
                  <a:ea typeface="Arial"/>
                  <a:cs typeface="Arial"/>
                  <a:sym typeface="Arial"/>
                </a:rPr>
                <a:t>11</a:t>
              </a:r>
              <a:r>
                <a:rPr lang="en-GB" sz="2900" baseline="30000" dirty="0">
                  <a:solidFill>
                    <a:schemeClr val="lt1"/>
                  </a:solidFill>
                  <a:latin typeface="Arial"/>
                  <a:ea typeface="Arial"/>
                  <a:cs typeface="Arial"/>
                  <a:sym typeface="Arial"/>
                </a:rPr>
                <a:t>th</a:t>
              </a:r>
              <a:r>
                <a:rPr lang="en-GB" sz="2900" dirty="0">
                  <a:solidFill>
                    <a:schemeClr val="lt1"/>
                  </a:solidFill>
                  <a:latin typeface="Arial"/>
                  <a:ea typeface="Arial"/>
                  <a:cs typeface="Arial"/>
                  <a:sym typeface="Arial"/>
                </a:rPr>
                <a:t> February</a:t>
              </a:r>
              <a:endParaRPr dirty="0"/>
            </a:p>
          </p:txBody>
        </p:sp>
        <p:sp>
          <p:nvSpPr>
            <p:cNvPr id="172" name="Google Shape;172;p8"/>
            <p:cNvSpPr/>
            <p:nvPr/>
          </p:nvSpPr>
          <p:spPr>
            <a:xfrm rot="5400000">
              <a:off x="6731621" y="-1739242"/>
              <a:ext cx="837972" cy="6729984"/>
            </a:xfrm>
            <a:prstGeom prst="round2SameRect">
              <a:avLst>
                <a:gd name="adj1" fmla="val 16667"/>
                <a:gd name="adj2" fmla="val 0"/>
              </a:avLst>
            </a:prstGeom>
            <a:solidFill>
              <a:srgbClr val="CAE7D2">
                <a:alpha val="89803"/>
              </a:srgbClr>
            </a:solidFill>
            <a:ln w="19050" cap="flat" cmpd="sng">
              <a:solidFill>
                <a:srgbClr val="CAE7D2">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txBox="1"/>
            <p:nvPr/>
          </p:nvSpPr>
          <p:spPr>
            <a:xfrm>
              <a:off x="3785615" y="1247670"/>
              <a:ext cx="6689078" cy="756160"/>
            </a:xfrm>
            <a:prstGeom prst="rect">
              <a:avLst/>
            </a:prstGeom>
            <a:noFill/>
            <a:ln>
              <a:noFill/>
            </a:ln>
          </p:spPr>
          <p:txBody>
            <a:bodyPr spcFirstLastPara="1" wrap="square" lIns="87625" tIns="43800" rIns="87625" bIns="43800" anchor="ctr"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GB" sz="2300" dirty="0">
                  <a:effectLst/>
                  <a:latin typeface="+mn-lt"/>
                  <a:ea typeface="Aptos" panose="020B0004020202020204" pitchFamily="34" charset="0"/>
                  <a:cs typeface="Times New Roman" panose="02020603050405020304" pitchFamily="18" charset="0"/>
                </a:rPr>
                <a:t>Deadline for competitors to submit their final algorithms </a:t>
              </a:r>
              <a:endParaRPr sz="2300" dirty="0">
                <a:latin typeface="+mn-lt"/>
              </a:endParaRPr>
            </a:p>
          </p:txBody>
        </p:sp>
        <p:sp>
          <p:nvSpPr>
            <p:cNvPr id="174" name="Google Shape;174;p8"/>
            <p:cNvSpPr/>
            <p:nvPr/>
          </p:nvSpPr>
          <p:spPr>
            <a:xfrm>
              <a:off x="0" y="1102016"/>
              <a:ext cx="3785616" cy="1047465"/>
            </a:xfrm>
            <a:prstGeom prst="roundRect">
              <a:avLst>
                <a:gd name="adj" fmla="val 16667"/>
              </a:avLst>
            </a:prstGeom>
            <a:solidFill>
              <a:srgbClr val="00BB6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txBox="1"/>
            <p:nvPr/>
          </p:nvSpPr>
          <p:spPr>
            <a:xfrm>
              <a:off x="51133" y="1153149"/>
              <a:ext cx="3683350" cy="945199"/>
            </a:xfrm>
            <a:prstGeom prst="rect">
              <a:avLst/>
            </a:prstGeom>
            <a:noFill/>
            <a:ln>
              <a:noFill/>
            </a:ln>
          </p:spPr>
          <p:txBody>
            <a:bodyPr spcFirstLastPara="1" wrap="square" lIns="110475" tIns="55225" rIns="110475" bIns="5522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GB" sz="2900" dirty="0">
                  <a:solidFill>
                    <a:schemeClr val="lt1"/>
                  </a:solidFill>
                  <a:latin typeface="Arial"/>
                  <a:ea typeface="Arial"/>
                  <a:cs typeface="Arial"/>
                  <a:sym typeface="Arial"/>
                </a:rPr>
                <a:t>5</a:t>
              </a:r>
              <a:r>
                <a:rPr lang="en-GB" sz="2900" baseline="30000" dirty="0">
                  <a:solidFill>
                    <a:schemeClr val="lt1"/>
                  </a:solidFill>
                  <a:latin typeface="Arial"/>
                  <a:ea typeface="Arial"/>
                  <a:cs typeface="Arial"/>
                  <a:sym typeface="Arial"/>
                </a:rPr>
                <a:t>th</a:t>
              </a:r>
              <a:r>
                <a:rPr lang="en-GB" sz="2900" dirty="0">
                  <a:solidFill>
                    <a:schemeClr val="lt1"/>
                  </a:solidFill>
                  <a:latin typeface="Arial"/>
                  <a:ea typeface="Arial"/>
                  <a:cs typeface="Arial"/>
                  <a:sym typeface="Arial"/>
                </a:rPr>
                <a:t> April 2026</a:t>
              </a:r>
              <a:endParaRPr dirty="0"/>
            </a:p>
          </p:txBody>
        </p:sp>
        <p:sp>
          <p:nvSpPr>
            <p:cNvPr id="176" name="Google Shape;176;p8"/>
            <p:cNvSpPr/>
            <p:nvPr/>
          </p:nvSpPr>
          <p:spPr>
            <a:xfrm rot="5400000">
              <a:off x="6731621" y="-639403"/>
              <a:ext cx="837972" cy="6729984"/>
            </a:xfrm>
            <a:prstGeom prst="round2SameRect">
              <a:avLst>
                <a:gd name="adj1" fmla="val 16667"/>
                <a:gd name="adj2" fmla="val 0"/>
              </a:avLst>
            </a:prstGeom>
            <a:solidFill>
              <a:srgbClr val="CACFDE">
                <a:alpha val="89803"/>
              </a:srgbClr>
            </a:solidFill>
            <a:ln w="19050" cap="flat" cmpd="sng">
              <a:solidFill>
                <a:srgbClr val="CACFDE">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txBox="1"/>
            <p:nvPr/>
          </p:nvSpPr>
          <p:spPr>
            <a:xfrm>
              <a:off x="3785615" y="2347509"/>
              <a:ext cx="6689078" cy="756160"/>
            </a:xfrm>
            <a:prstGeom prst="rect">
              <a:avLst/>
            </a:prstGeom>
            <a:noFill/>
            <a:ln>
              <a:noFill/>
            </a:ln>
          </p:spPr>
          <p:txBody>
            <a:bodyPr spcFirstLastPara="1" wrap="square" lIns="87625" tIns="43800" rIns="87625" bIns="43800" anchor="ctr"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GB" sz="2300" b="0" i="0" u="none" strike="noStrike" cap="none" dirty="0">
                  <a:solidFill>
                    <a:schemeClr val="dk1"/>
                  </a:solidFill>
                  <a:latin typeface="Arial"/>
                  <a:ea typeface="Arial"/>
                  <a:cs typeface="Arial"/>
                  <a:sym typeface="Arial"/>
                </a:rPr>
                <a:t>The assessment dataset is released </a:t>
              </a:r>
              <a:endParaRPr dirty="0"/>
            </a:p>
          </p:txBody>
        </p:sp>
        <p:sp>
          <p:nvSpPr>
            <p:cNvPr id="178" name="Google Shape;178;p8"/>
            <p:cNvSpPr/>
            <p:nvPr/>
          </p:nvSpPr>
          <p:spPr>
            <a:xfrm>
              <a:off x="0" y="2201855"/>
              <a:ext cx="3785616" cy="1047465"/>
            </a:xfrm>
            <a:prstGeom prst="roundRect">
              <a:avLst>
                <a:gd name="adj" fmla="val 16667"/>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txBox="1"/>
            <p:nvPr/>
          </p:nvSpPr>
          <p:spPr>
            <a:xfrm>
              <a:off x="51133" y="2252988"/>
              <a:ext cx="3683350" cy="945199"/>
            </a:xfrm>
            <a:prstGeom prst="rect">
              <a:avLst/>
            </a:prstGeom>
            <a:noFill/>
            <a:ln>
              <a:noFill/>
            </a:ln>
          </p:spPr>
          <p:txBody>
            <a:bodyPr spcFirstLastPara="1" wrap="square" lIns="110475" tIns="55225" rIns="110475" bIns="5522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GB" sz="2900" dirty="0">
                  <a:solidFill>
                    <a:schemeClr val="lt1"/>
                  </a:solidFill>
                  <a:latin typeface="Arial"/>
                  <a:ea typeface="Arial"/>
                  <a:cs typeface="Arial"/>
                  <a:sym typeface="Arial"/>
                </a:rPr>
                <a:t>6</a:t>
              </a:r>
              <a:r>
                <a:rPr lang="en-GB" sz="2900" baseline="30000" dirty="0">
                  <a:solidFill>
                    <a:schemeClr val="lt1"/>
                  </a:solidFill>
                  <a:latin typeface="Arial"/>
                  <a:ea typeface="Arial"/>
                  <a:cs typeface="Arial"/>
                  <a:sym typeface="Arial"/>
                </a:rPr>
                <a:t>th</a:t>
              </a:r>
              <a:r>
                <a:rPr lang="en-GB" sz="2900" dirty="0">
                  <a:solidFill>
                    <a:schemeClr val="lt1"/>
                  </a:solidFill>
                  <a:latin typeface="Arial"/>
                  <a:ea typeface="Arial"/>
                  <a:cs typeface="Arial"/>
                  <a:sym typeface="Arial"/>
                </a:rPr>
                <a:t> April 2026</a:t>
              </a:r>
              <a:endParaRPr dirty="0"/>
            </a:p>
          </p:txBody>
        </p:sp>
        <p:sp>
          <p:nvSpPr>
            <p:cNvPr id="180" name="Google Shape;180;p8"/>
            <p:cNvSpPr/>
            <p:nvPr/>
          </p:nvSpPr>
          <p:spPr>
            <a:xfrm rot="5400000">
              <a:off x="6731621" y="460435"/>
              <a:ext cx="837972" cy="6729984"/>
            </a:xfrm>
            <a:prstGeom prst="round2SameRect">
              <a:avLst>
                <a:gd name="adj1" fmla="val 16667"/>
                <a:gd name="adj2" fmla="val 0"/>
              </a:avLst>
            </a:prstGeom>
            <a:solidFill>
              <a:srgbClr val="DFCADB">
                <a:alpha val="89803"/>
              </a:srgbClr>
            </a:solidFill>
            <a:ln w="19050" cap="flat" cmpd="sng">
              <a:solidFill>
                <a:srgbClr val="DFCAD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txBox="1"/>
            <p:nvPr/>
          </p:nvSpPr>
          <p:spPr>
            <a:xfrm>
              <a:off x="3785615" y="3447347"/>
              <a:ext cx="6689078" cy="756160"/>
            </a:xfrm>
            <a:prstGeom prst="rect">
              <a:avLst/>
            </a:prstGeom>
            <a:noFill/>
            <a:ln>
              <a:noFill/>
            </a:ln>
          </p:spPr>
          <p:txBody>
            <a:bodyPr spcFirstLastPara="1" wrap="square" lIns="87625" tIns="43800" rIns="87625" bIns="43800" anchor="ctr"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GB" sz="2300" dirty="0">
                  <a:effectLst/>
                  <a:latin typeface="+mn-lt"/>
                  <a:ea typeface="Aptos" panose="020B0004020202020204" pitchFamily="34" charset="0"/>
                  <a:cs typeface="Times New Roman" panose="02020603050405020304" pitchFamily="18" charset="0"/>
                </a:rPr>
                <a:t>Deadline for competitors to submit their forecasts.</a:t>
              </a:r>
              <a:r>
                <a:rPr lang="en-GB" sz="2300" dirty="0">
                  <a:effectLst/>
                  <a:latin typeface="+mn-lt"/>
                </a:rPr>
                <a:t> </a:t>
              </a:r>
              <a:endParaRPr sz="2300" dirty="0">
                <a:latin typeface="+mn-lt"/>
              </a:endParaRPr>
            </a:p>
          </p:txBody>
        </p:sp>
        <p:sp>
          <p:nvSpPr>
            <p:cNvPr id="182" name="Google Shape;182;p8"/>
            <p:cNvSpPr/>
            <p:nvPr/>
          </p:nvSpPr>
          <p:spPr>
            <a:xfrm>
              <a:off x="0" y="3301694"/>
              <a:ext cx="3785616" cy="1047465"/>
            </a:xfrm>
            <a:prstGeom prst="roundRect">
              <a:avLst>
                <a:gd name="adj" fmla="val 16667"/>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txBox="1"/>
            <p:nvPr/>
          </p:nvSpPr>
          <p:spPr>
            <a:xfrm>
              <a:off x="51133" y="3352827"/>
              <a:ext cx="3683350" cy="945199"/>
            </a:xfrm>
            <a:prstGeom prst="rect">
              <a:avLst/>
            </a:prstGeom>
            <a:noFill/>
            <a:ln>
              <a:noFill/>
            </a:ln>
          </p:spPr>
          <p:txBody>
            <a:bodyPr spcFirstLastPara="1" wrap="square" lIns="110475" tIns="55225" rIns="110475" bIns="5522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GB" sz="2900" dirty="0">
                  <a:solidFill>
                    <a:schemeClr val="lt1"/>
                  </a:solidFill>
                  <a:latin typeface="Arial"/>
                  <a:ea typeface="Arial"/>
                  <a:cs typeface="Arial"/>
                  <a:sym typeface="Arial"/>
                </a:rPr>
                <a:t>20</a:t>
              </a:r>
              <a:r>
                <a:rPr lang="en-GB" sz="2900" baseline="30000" dirty="0">
                  <a:solidFill>
                    <a:schemeClr val="lt1"/>
                  </a:solidFill>
                  <a:latin typeface="Arial"/>
                  <a:ea typeface="Arial"/>
                  <a:cs typeface="Arial"/>
                  <a:sym typeface="Arial"/>
                </a:rPr>
                <a:t>th</a:t>
              </a:r>
              <a:r>
                <a:rPr lang="en-GB" sz="2900" dirty="0">
                  <a:solidFill>
                    <a:schemeClr val="lt1"/>
                  </a:solidFill>
                  <a:latin typeface="Arial"/>
                  <a:ea typeface="Arial"/>
                  <a:cs typeface="Arial"/>
                  <a:sym typeface="Arial"/>
                </a:rPr>
                <a:t> April 2026</a:t>
              </a:r>
              <a:endParaRPr dirty="0"/>
            </a:p>
          </p:txBody>
        </p:sp>
      </p:grpSp>
      <p:sp>
        <p:nvSpPr>
          <p:cNvPr id="2" name="Google Shape;181;p8">
            <a:extLst>
              <a:ext uri="{FF2B5EF4-FFF2-40B4-BE49-F238E27FC236}">
                <a16:creationId xmlns:a16="http://schemas.microsoft.com/office/drawing/2014/main" id="{671F75DC-F934-0719-B8FC-D870CB1AE143}"/>
              </a:ext>
            </a:extLst>
          </p:cNvPr>
          <p:cNvSpPr txBox="1"/>
          <p:nvPr/>
        </p:nvSpPr>
        <p:spPr>
          <a:xfrm>
            <a:off x="4572682" y="5148822"/>
            <a:ext cx="6689078" cy="579659"/>
          </a:xfrm>
          <a:prstGeom prst="rect">
            <a:avLst/>
          </a:prstGeom>
          <a:solidFill>
            <a:schemeClr val="accent1">
              <a:alpha val="28372"/>
            </a:schemeClr>
          </a:solidFill>
          <a:ln>
            <a:noFill/>
          </a:ln>
        </p:spPr>
        <p:txBody>
          <a:bodyPr spcFirstLastPara="1" wrap="square" lIns="87625" tIns="43800" rIns="87625" bIns="43800" anchor="ctr"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GB" sz="2300" dirty="0">
                <a:effectLst/>
                <a:latin typeface="+mn-lt"/>
                <a:ea typeface="Aptos" panose="020B0004020202020204" pitchFamily="34" charset="0"/>
                <a:cs typeface="Times New Roman" panose="02020603050405020304" pitchFamily="18" charset="0"/>
              </a:rPr>
              <a:t>Winners announced</a:t>
            </a:r>
            <a:endParaRPr sz="2300" dirty="0">
              <a:latin typeface="+mn-lt"/>
            </a:endParaRPr>
          </a:p>
        </p:txBody>
      </p:sp>
      <p:sp>
        <p:nvSpPr>
          <p:cNvPr id="3" name="Google Shape;183;p8">
            <a:extLst>
              <a:ext uri="{FF2B5EF4-FFF2-40B4-BE49-F238E27FC236}">
                <a16:creationId xmlns:a16="http://schemas.microsoft.com/office/drawing/2014/main" id="{FA7477AF-1C59-9E23-0156-4AC01A278555}"/>
              </a:ext>
            </a:extLst>
          </p:cNvPr>
          <p:cNvSpPr txBox="1"/>
          <p:nvPr/>
        </p:nvSpPr>
        <p:spPr>
          <a:xfrm>
            <a:off x="838200" y="5123249"/>
            <a:ext cx="3683350" cy="724573"/>
          </a:xfrm>
          <a:prstGeom prst="rect">
            <a:avLst/>
          </a:prstGeom>
          <a:noFill/>
          <a:ln>
            <a:noFill/>
          </a:ln>
        </p:spPr>
        <p:txBody>
          <a:bodyPr spcFirstLastPara="1" wrap="square" lIns="110475" tIns="55225" rIns="110475" bIns="5522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GB" sz="2900" dirty="0">
                <a:solidFill>
                  <a:schemeClr val="bg1"/>
                </a:solidFill>
              </a:rPr>
              <a:t>8</a:t>
            </a:r>
            <a:r>
              <a:rPr lang="en-GB" sz="2900" baseline="30000" dirty="0">
                <a:solidFill>
                  <a:schemeClr val="bg1"/>
                </a:solidFill>
              </a:rPr>
              <a:t>th</a:t>
            </a:r>
            <a:r>
              <a:rPr lang="en-GB" sz="2900" dirty="0">
                <a:solidFill>
                  <a:schemeClr val="bg1"/>
                </a:solidFill>
              </a:rPr>
              <a:t> May 2026</a:t>
            </a:r>
            <a:endParaRPr sz="29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dirty="0">
                <a:latin typeface="Arial" panose="020B0604020202020204" pitchFamily="34" charset="0"/>
                <a:cs typeface="Arial" panose="020B0604020202020204" pitchFamily="34" charset="0"/>
              </a:rPr>
              <a:t>Communication</a:t>
            </a:r>
            <a:endParaRPr dirty="0">
              <a:latin typeface="Arial" panose="020B0604020202020204" pitchFamily="34" charset="0"/>
              <a:cs typeface="Arial" panose="020B0604020202020204" pitchFamily="34" charset="0"/>
            </a:endParaRPr>
          </a:p>
        </p:txBody>
      </p:sp>
      <p:sp>
        <p:nvSpPr>
          <p:cNvPr id="190" name="Google Shape;190;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GB"/>
              <a:t>We have a SPHERE-PPL Zulip group (akin to Teams or Slack) where we will be available to answer questions and interact with the community.</a:t>
            </a:r>
            <a:endParaRPr/>
          </a:p>
          <a:p>
            <a:pPr marL="228600" lvl="0" indent="-228600" algn="l" rtl="0">
              <a:lnSpc>
                <a:spcPct val="90000"/>
              </a:lnSpc>
              <a:spcBef>
                <a:spcPts val="1000"/>
              </a:spcBef>
              <a:spcAft>
                <a:spcPts val="0"/>
              </a:spcAft>
              <a:buSzPts val="2800"/>
              <a:buChar char="•"/>
            </a:pPr>
            <a:r>
              <a:rPr lang="en-GB"/>
              <a:t>Please also use it for communicating within your own teams!</a:t>
            </a:r>
            <a:endParaRPr/>
          </a:p>
          <a:p>
            <a:pPr marL="228600" lvl="0" indent="-228600" algn="l" rtl="0">
              <a:lnSpc>
                <a:spcPct val="90000"/>
              </a:lnSpc>
              <a:spcBef>
                <a:spcPts val="1000"/>
              </a:spcBef>
              <a:spcAft>
                <a:spcPts val="0"/>
              </a:spcAft>
              <a:buSzPts val="2800"/>
              <a:buChar char="•"/>
            </a:pPr>
            <a:r>
              <a:rPr lang="en-GB" u="sng">
                <a:solidFill>
                  <a:srgbClr val="00BB64"/>
                </a:solidFill>
                <a:hlinkClick r:id="rId3">
                  <a:extLst>
                    <a:ext uri="{A12FA001-AC4F-418D-AE19-62706E023703}">
                      <ahyp:hlinkClr xmlns:ahyp="http://schemas.microsoft.com/office/drawing/2018/hyperlinkcolor" val="tx"/>
                    </a:ext>
                  </a:extLst>
                </a:hlinkClick>
              </a:rPr>
              <a:t>Join Here!</a:t>
            </a:r>
            <a:endParaRPr>
              <a:solidFill>
                <a:srgbClr val="00BB64"/>
              </a:solidFill>
            </a:endParaRPr>
          </a:p>
        </p:txBody>
      </p:sp>
      <p:pic>
        <p:nvPicPr>
          <p:cNvPr id="192" name="Google Shape;192;p9" descr="Zulip 2.0: Open source threaded team chat : r/programming"/>
          <p:cNvPicPr preferRelativeResize="0">
            <a:picLocks noGrp="1"/>
          </p:cNvPicPr>
          <p:nvPr>
            <p:ph type="body" idx="2"/>
          </p:nvPr>
        </p:nvPicPr>
        <p:blipFill rotWithShape="1">
          <a:blip r:embed="rId4">
            <a:alphaModFix/>
          </a:blip>
          <a:srcRect/>
          <a:stretch/>
        </p:blipFill>
        <p:spPr>
          <a:xfrm>
            <a:off x="6172200" y="2645442"/>
            <a:ext cx="5181600" cy="27117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AA5"/>
              </a:buClr>
              <a:buSzPts val="4400"/>
              <a:buFont typeface="Play"/>
              <a:buNone/>
            </a:pPr>
            <a:r>
              <a:rPr lang="en-GB"/>
              <a:t>Getting Started</a:t>
            </a:r>
            <a:endParaRPr/>
          </a:p>
        </p:txBody>
      </p:sp>
      <p:sp>
        <p:nvSpPr>
          <p:cNvPr id="198" name="Google Shape;198;p10"/>
          <p:cNvSpPr txBox="1">
            <a:spLocks noGrp="1"/>
          </p:cNvSpPr>
          <p:nvPr>
            <p:ph type="body" idx="1"/>
          </p:nvPr>
        </p:nvSpPr>
        <p:spPr>
          <a:xfrm>
            <a:off x="838200" y="1825625"/>
            <a:ext cx="5171615"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800"/>
              <a:buNone/>
            </a:pPr>
            <a:r>
              <a:rPr lang="en-GB" dirty="0"/>
              <a:t>Main Link: </a:t>
            </a:r>
            <a:r>
              <a:rPr lang="en-GB" u="sng" dirty="0">
                <a:solidFill>
                  <a:srgbClr val="00BB64"/>
                </a:solidFill>
                <a:hlinkClick r:id="rId3">
                  <a:extLst>
                    <a:ext uri="{A12FA001-AC4F-418D-AE19-62706E023703}">
                      <ahyp:hlinkClr xmlns:ahyp="http://schemas.microsoft.com/office/drawing/2018/hyperlinkcolor" val="tx"/>
                    </a:ext>
                  </a:extLst>
                </a:hlinkClick>
              </a:rPr>
              <a:t>NHS Forecasting Contest</a:t>
            </a:r>
            <a:endParaRPr dirty="0">
              <a:solidFill>
                <a:srgbClr val="00BB64"/>
              </a:solidFill>
            </a:endParaRPr>
          </a:p>
          <a:p>
            <a:pPr marL="0" lvl="0" indent="0" algn="l" rtl="0">
              <a:lnSpc>
                <a:spcPct val="90000"/>
              </a:lnSpc>
              <a:spcBef>
                <a:spcPts val="1000"/>
              </a:spcBef>
              <a:spcAft>
                <a:spcPts val="0"/>
              </a:spcAft>
              <a:buSzPts val="2800"/>
              <a:buNone/>
            </a:pPr>
            <a:endParaRPr dirty="0"/>
          </a:p>
          <a:p>
            <a:pPr marL="0" lvl="0" indent="0" algn="l" rtl="0">
              <a:lnSpc>
                <a:spcPct val="90000"/>
              </a:lnSpc>
              <a:spcBef>
                <a:spcPts val="1000"/>
              </a:spcBef>
              <a:spcAft>
                <a:spcPts val="0"/>
              </a:spcAft>
              <a:buSzPts val="2800"/>
              <a:buNone/>
            </a:pPr>
            <a:r>
              <a:rPr lang="en-GB" dirty="0"/>
              <a:t>Resources</a:t>
            </a:r>
            <a:endParaRPr dirty="0"/>
          </a:p>
          <a:p>
            <a:pPr marL="228600" lvl="0" indent="-228600" algn="l" rtl="0">
              <a:lnSpc>
                <a:spcPct val="90000"/>
              </a:lnSpc>
              <a:spcBef>
                <a:spcPts val="1000"/>
              </a:spcBef>
              <a:spcAft>
                <a:spcPts val="0"/>
              </a:spcAft>
              <a:buSzPts val="2800"/>
              <a:buChar char="•"/>
            </a:pPr>
            <a:r>
              <a:rPr lang="en-GB" u="sng" dirty="0">
                <a:solidFill>
                  <a:srgbClr val="00BB64"/>
                </a:solidFill>
                <a:hlinkClick r:id="rId4">
                  <a:extLst>
                    <a:ext uri="{A12FA001-AC4F-418D-AE19-62706E023703}">
                      <ahyp:hlinkClr xmlns:ahyp="http://schemas.microsoft.com/office/drawing/2018/hyperlinkcolor" val="tx"/>
                    </a:ext>
                  </a:extLst>
                </a:hlinkClick>
              </a:rPr>
              <a:t>Overview &amp; Quick-Start Videos</a:t>
            </a:r>
            <a:endParaRPr dirty="0">
              <a:solidFill>
                <a:srgbClr val="00BB64"/>
              </a:solidFill>
            </a:endParaRPr>
          </a:p>
          <a:p>
            <a:pPr marL="228600" lvl="0" indent="-228600" algn="l" rtl="0">
              <a:lnSpc>
                <a:spcPct val="90000"/>
              </a:lnSpc>
              <a:spcBef>
                <a:spcPts val="1000"/>
              </a:spcBef>
              <a:spcAft>
                <a:spcPts val="0"/>
              </a:spcAft>
              <a:buSzPts val="2800"/>
              <a:buChar char="•"/>
            </a:pPr>
            <a:r>
              <a:rPr lang="en-GB" u="sng" dirty="0">
                <a:solidFill>
                  <a:srgbClr val="00BB64"/>
                </a:solidFill>
                <a:hlinkClick r:id="rId5">
                  <a:extLst>
                    <a:ext uri="{A12FA001-AC4F-418D-AE19-62706E023703}">
                      <ahyp:hlinkClr xmlns:ahyp="http://schemas.microsoft.com/office/drawing/2018/hyperlinkcolor" val="tx"/>
                    </a:ext>
                  </a:extLst>
                </a:hlinkClick>
              </a:rPr>
              <a:t>Example Contest – Mpox</a:t>
            </a:r>
            <a:endParaRPr dirty="0">
              <a:solidFill>
                <a:srgbClr val="00BB64"/>
              </a:solidFill>
            </a:endParaRPr>
          </a:p>
        </p:txBody>
      </p:sp>
      <p:pic>
        <p:nvPicPr>
          <p:cNvPr id="200" name="Google Shape;200;p10"/>
          <p:cNvPicPr preferRelativeResize="0"/>
          <p:nvPr/>
        </p:nvPicPr>
        <p:blipFill rotWithShape="1">
          <a:blip r:embed="rId6">
            <a:alphaModFix/>
          </a:blip>
          <a:srcRect/>
          <a:stretch/>
        </p:blipFill>
        <p:spPr>
          <a:xfrm>
            <a:off x="6754785" y="958516"/>
            <a:ext cx="4599015" cy="49409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6A174-5204-9211-6AAB-D0674EB5721F}"/>
              </a:ext>
            </a:extLst>
          </p:cNvPr>
          <p:cNvSpPr>
            <a:spLocks noGrp="1"/>
          </p:cNvSpPr>
          <p:nvPr>
            <p:ph type="title"/>
          </p:nvPr>
        </p:nvSpPr>
        <p:spPr/>
        <p:txBody>
          <a:bodyPr/>
          <a:lstStyle/>
          <a:p>
            <a:r>
              <a:rPr lang="en-GB" dirty="0"/>
              <a:t>Thanks For Joining!</a:t>
            </a:r>
          </a:p>
        </p:txBody>
      </p:sp>
      <p:sp>
        <p:nvSpPr>
          <p:cNvPr id="3" name="Text Placeholder 2">
            <a:extLst>
              <a:ext uri="{FF2B5EF4-FFF2-40B4-BE49-F238E27FC236}">
                <a16:creationId xmlns:a16="http://schemas.microsoft.com/office/drawing/2014/main" id="{0FE3CA5E-0927-5301-A841-B7A0E84DCD0D}"/>
              </a:ext>
            </a:extLst>
          </p:cNvPr>
          <p:cNvSpPr>
            <a:spLocks noGrp="1"/>
          </p:cNvSpPr>
          <p:nvPr>
            <p:ph type="body" idx="1"/>
          </p:nvPr>
        </p:nvSpPr>
        <p:spPr/>
        <p:txBody>
          <a:bodyPr/>
          <a:lstStyle/>
          <a:p>
            <a:r>
              <a:rPr lang="en-GB" dirty="0"/>
              <a:t>Get more information at our website: </a:t>
            </a:r>
            <a:r>
              <a:rPr lang="en-GB" dirty="0">
                <a:solidFill>
                  <a:schemeClr val="accent3"/>
                </a:solidFill>
                <a:hlinkClick r:id="rId2">
                  <a:extLst>
                    <a:ext uri="{A12FA001-AC4F-418D-AE19-62706E023703}">
                      <ahyp:hlinkClr xmlns:ahyp="http://schemas.microsoft.com/office/drawing/2018/hyperlinkcolor" val="tx"/>
                    </a:ext>
                  </a:extLst>
                </a:hlinkClick>
              </a:rPr>
              <a:t>www.sphere-ppl.org</a:t>
            </a:r>
            <a:endParaRPr lang="en-GB" dirty="0">
              <a:solidFill>
                <a:schemeClr val="accent3"/>
              </a:solidFill>
            </a:endParaRPr>
          </a:p>
          <a:p>
            <a:r>
              <a:rPr lang="en-GB" dirty="0">
                <a:solidFill>
                  <a:schemeClr val="tx1"/>
                </a:solidFill>
              </a:rPr>
              <a:t>Email us at: </a:t>
            </a:r>
            <a:r>
              <a:rPr lang="en-GB" dirty="0">
                <a:solidFill>
                  <a:schemeClr val="accent3"/>
                </a:solidFill>
                <a:hlinkClick r:id="rId3">
                  <a:extLst>
                    <a:ext uri="{A12FA001-AC4F-418D-AE19-62706E023703}">
                      <ahyp:hlinkClr xmlns:ahyp="http://schemas.microsoft.com/office/drawing/2018/hyperlinkcolor" val="tx"/>
                    </a:ext>
                  </a:extLst>
                </a:hlinkClick>
              </a:rPr>
              <a:t>info@sphere-ppl.org</a:t>
            </a:r>
            <a:r>
              <a:rPr lang="en-GB" dirty="0">
                <a:solidFill>
                  <a:schemeClr val="accent3"/>
                </a:solidFill>
              </a:rPr>
              <a:t> </a:t>
            </a:r>
          </a:p>
        </p:txBody>
      </p:sp>
    </p:spTree>
    <p:extLst>
      <p:ext uri="{BB962C8B-B14F-4D97-AF65-F5344CB8AC3E}">
        <p14:creationId xmlns:p14="http://schemas.microsoft.com/office/powerpoint/2010/main" val="3748478997"/>
      </p:ext>
    </p:extLst>
  </p:cSld>
  <p:clrMapOvr>
    <a:masterClrMapping/>
  </p:clrMapOvr>
</p:sld>
</file>

<file path=ppt/theme/theme1.xml><?xml version="1.0" encoding="utf-8"?>
<a:theme xmlns:a="http://schemas.openxmlformats.org/drawingml/2006/main" name="Office Theme">
  <a:themeElements>
    <a:clrScheme name="SPHERE-PPL">
      <a:dk1>
        <a:srgbClr val="000000"/>
      </a:dk1>
      <a:lt1>
        <a:srgbClr val="FFFFFF"/>
      </a:lt1>
      <a:dk2>
        <a:srgbClr val="0E2841"/>
      </a:dk2>
      <a:lt2>
        <a:srgbClr val="E8E8E8"/>
      </a:lt2>
      <a:accent1>
        <a:srgbClr val="008AA5"/>
      </a:accent1>
      <a:accent2>
        <a:srgbClr val="FCAF00"/>
      </a:accent2>
      <a:accent3>
        <a:srgbClr val="00BB64"/>
      </a:accent3>
      <a:accent4>
        <a:srgbClr val="004D9E"/>
      </a:accent4>
      <a:accent5>
        <a:srgbClr val="A02B93"/>
      </a:accent5>
      <a:accent6>
        <a:srgbClr val="4EA72E"/>
      </a:accent6>
      <a:hlink>
        <a:srgbClr val="98FB98"/>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1234</TotalTime>
  <Words>527</Words>
  <Application>Microsoft Macintosh PowerPoint</Application>
  <PresentationFormat>Widescreen</PresentationFormat>
  <Paragraphs>71</Paragraphs>
  <Slides>12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Play</vt:lpstr>
      <vt:lpstr>Arial</vt:lpstr>
      <vt:lpstr>Office Theme</vt:lpstr>
      <vt:lpstr>NHS Forecasting Contest Kick-Off</vt:lpstr>
      <vt:lpstr>Outline</vt:lpstr>
      <vt:lpstr>What is SPHERE-PPL doing?</vt:lpstr>
      <vt:lpstr>Introduction</vt:lpstr>
      <vt:lpstr>Data</vt:lpstr>
      <vt:lpstr>Contest Outputs</vt:lpstr>
      <vt:lpstr>Contest Rules</vt:lpstr>
      <vt:lpstr>Contest Winners</vt:lpstr>
      <vt:lpstr>Contest Timeline</vt:lpstr>
      <vt:lpstr>Communication</vt:lpstr>
      <vt:lpstr>Getting Started</vt:lpstr>
      <vt:lpstr>Thanks For Joining!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Josh Tyler</dc:creator>
  <cp:lastModifiedBy>Alex Rabeau</cp:lastModifiedBy>
  <cp:revision>32</cp:revision>
  <dcterms:created xsi:type="dcterms:W3CDTF">2025-03-24T13:29:03Z</dcterms:created>
  <dcterms:modified xsi:type="dcterms:W3CDTF">2026-02-06T10:52:13Z</dcterms:modified>
</cp:coreProperties>
</file>