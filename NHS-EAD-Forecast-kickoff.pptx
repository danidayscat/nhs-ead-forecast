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embeddedFontLst>
    <p:embeddedFont>
      <p:font typeface="Play" pitchFamily="2" charset="0"/>
      <p:regular r:id="rId16"/>
      <p:bold r:id="rId1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1"/>
    <p:restoredTop sz="94578"/>
  </p:normalViewPr>
  <p:slideViewPr>
    <p:cSldViewPr snapToGrid="0">
      <p:cViewPr varScale="1">
        <p:scale>
          <a:sx n="108" d="100"/>
          <a:sy n="108" d="100"/>
        </p:scale>
        <p:origin x="672"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niela Josefa Diaz Catalan | U.Mayor" userId="ac8015c3-1153-4d5f-8eb8-df5457337a98" providerId="ADAL" clId="{89B7D9B3-F664-5A71-958E-D6466B209C90}"/>
    <pc:docChg chg="custSel mod modSld">
      <pc:chgData name="Daniela Josefa Diaz Catalan | U.Mayor" userId="ac8015c3-1153-4d5f-8eb8-df5457337a98" providerId="ADAL" clId="{89B7D9B3-F664-5A71-958E-D6466B209C90}" dt="2026-05-28T02:17:02.072" v="4" actId="1076"/>
      <pc:docMkLst>
        <pc:docMk/>
      </pc:docMkLst>
      <pc:sldChg chg="modSp mod">
        <pc:chgData name="Daniela Josefa Diaz Catalan | U.Mayor" userId="ac8015c3-1153-4d5f-8eb8-df5457337a98" providerId="ADAL" clId="{89B7D9B3-F664-5A71-958E-D6466B209C90}" dt="2026-05-28T02:17:02.072" v="4" actId="1076"/>
        <pc:sldMkLst>
          <pc:docMk/>
          <pc:sldMk cId="0" sldId="259"/>
        </pc:sldMkLst>
        <pc:spChg chg="mod">
          <ac:chgData name="Daniela Josefa Diaz Catalan | U.Mayor" userId="ac8015c3-1153-4d5f-8eb8-df5457337a98" providerId="ADAL" clId="{89B7D9B3-F664-5A71-958E-D6466B209C90}" dt="2026-05-05T18:35:22.276" v="1" actId="27636"/>
          <ac:spMkLst>
            <pc:docMk/>
            <pc:sldMk cId="0" sldId="259"/>
            <ac:spMk id="138" creationId="{00000000-0000-0000-0000-000000000000}"/>
          </ac:spMkLst>
        </pc:spChg>
        <pc:grpChg chg="mod">
          <ac:chgData name="Daniela Josefa Diaz Catalan | U.Mayor" userId="ac8015c3-1153-4d5f-8eb8-df5457337a98" providerId="ADAL" clId="{89B7D9B3-F664-5A71-958E-D6466B209C90}" dt="2026-05-28T02:17:02.072" v="4" actId="1076"/>
          <ac:grpSpMkLst>
            <pc:docMk/>
            <pc:sldMk cId="0" sldId="259"/>
            <ac:grpSpMk id="141" creationId="{00000000-0000-0000-0000-000000000000}"/>
          </ac:grpSpMkLst>
        </pc:grpChg>
      </pc:sldChg>
      <pc:sldChg chg="modSp mod">
        <pc:chgData name="Daniela Josefa Diaz Catalan | U.Mayor" userId="ac8015c3-1153-4d5f-8eb8-df5457337a98" providerId="ADAL" clId="{89B7D9B3-F664-5A71-958E-D6466B209C90}" dt="2026-05-05T18:35:22.279" v="2" actId="27636"/>
        <pc:sldMkLst>
          <pc:docMk/>
          <pc:sldMk cId="0" sldId="260"/>
        </pc:sldMkLst>
        <pc:spChg chg="mod">
          <ac:chgData name="Daniela Josefa Diaz Catalan | U.Mayor" userId="ac8015c3-1153-4d5f-8eb8-df5457337a98" providerId="ADAL" clId="{89B7D9B3-F664-5A71-958E-D6466B209C90}" dt="2026-05-05T18:35:22.279" v="2" actId="27636"/>
          <ac:spMkLst>
            <pc:docMk/>
            <pc:sldMk cId="0" sldId="260"/>
            <ac:spMk id="15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GB"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0" name="Google Shape;100;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7" name="Google Shape;10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2" name="Google Shape;122;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ccfc421dcf_1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 name="Google Shape;134;g3ccfc421dcf_1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ccfc421dcf_1_1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6" name="Google Shape;146;g3ccfc421dcf_1_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5" name="Google Shape;155;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4" name="Google Shape;164;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2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0" name="Google Shape;170;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8" name="Google Shape;178;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6" name="Google Shape;186;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1" name="Google Shape;21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8" name="Google Shape;218;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2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5" name="Google Shape;225;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008AA5"/>
              </a:buClr>
              <a:buSzPts val="6000"/>
              <a:buFont typeface="Play"/>
              <a:buNone/>
              <a:defRPr sz="6000">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SzPts val="2400"/>
              <a:buNone/>
              <a:defRPr sz="2400"/>
            </a:lvl1pPr>
            <a:lvl2pPr lvl="1" algn="ctr">
              <a:lnSpc>
                <a:spcPct val="90000"/>
              </a:lnSpc>
              <a:spcBef>
                <a:spcPts val="500"/>
              </a:spcBef>
              <a:spcAft>
                <a:spcPts val="0"/>
              </a:spcAft>
              <a:buSzPts val="2000"/>
              <a:buNone/>
              <a:defRPr sz="2000"/>
            </a:lvl2pPr>
            <a:lvl3pPr lvl="2" algn="ctr">
              <a:lnSpc>
                <a:spcPct val="90000"/>
              </a:lnSpc>
              <a:spcBef>
                <a:spcPts val="500"/>
              </a:spcBef>
              <a:spcAft>
                <a:spcPts val="0"/>
              </a:spcAft>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0" name="Google Shape;20;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4"/>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4"/>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6"/>
        <p:cNvGrpSpPr/>
        <p:nvPr/>
      </p:nvGrpSpPr>
      <p:grpSpPr>
        <a:xfrm>
          <a:off x="0" y="0"/>
          <a:ext cx="0" cy="0"/>
          <a:chOff x="0" y="0"/>
          <a:chExt cx="0" cy="0"/>
        </a:xfrm>
      </p:grpSpPr>
      <p:sp>
        <p:nvSpPr>
          <p:cNvPr id="37" name="Google Shape;37;p5"/>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008AA5"/>
              </a:buClr>
              <a:buSzPts val="6000"/>
              <a:buFont typeface="Play"/>
              <a:buNone/>
              <a:defRPr sz="6000">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400"/>
              <a:buNone/>
              <a:defRPr sz="2400">
                <a:solidFill>
                  <a:srgbClr val="757575"/>
                </a:solidFill>
              </a:defRPr>
            </a:lvl1pPr>
            <a:lvl2pPr marL="914400" lvl="1" indent="-228600" algn="l">
              <a:lnSpc>
                <a:spcPct val="90000"/>
              </a:lnSpc>
              <a:spcBef>
                <a:spcPts val="500"/>
              </a:spcBef>
              <a:spcAft>
                <a:spcPts val="0"/>
              </a:spcAft>
              <a:buSzPts val="2000"/>
              <a:buNone/>
              <a:defRPr sz="2000">
                <a:solidFill>
                  <a:srgbClr val="757575"/>
                </a:solidFill>
              </a:defRPr>
            </a:lvl2pPr>
            <a:lvl3pPr marL="1371600" lvl="2" indent="-228600" algn="l">
              <a:lnSpc>
                <a:spcPct val="90000"/>
              </a:lnSpc>
              <a:spcBef>
                <a:spcPts val="500"/>
              </a:spcBef>
              <a:spcAft>
                <a:spcPts val="0"/>
              </a:spcAft>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9" name="Google Shape;39;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2"/>
        <p:cNvGrpSpPr/>
        <p:nvPr/>
      </p:nvGrpSpPr>
      <p:grpSpPr>
        <a:xfrm>
          <a:off x="0" y="0"/>
          <a:ext cx="0" cy="0"/>
          <a:chOff x="0" y="0"/>
          <a:chExt cx="0" cy="0"/>
        </a:xfrm>
      </p:grpSpPr>
      <p:sp>
        <p:nvSpPr>
          <p:cNvPr id="43" name="Google Shape;43;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SzPts val="2400"/>
              <a:buNone/>
              <a:defRPr sz="2400" b="1"/>
            </a:lvl1pPr>
            <a:lvl2pPr marL="914400" lvl="1" indent="-228600" algn="l">
              <a:lnSpc>
                <a:spcPct val="90000"/>
              </a:lnSpc>
              <a:spcBef>
                <a:spcPts val="500"/>
              </a:spcBef>
              <a:spcAft>
                <a:spcPts val="0"/>
              </a:spcAft>
              <a:buSzPts val="2000"/>
              <a:buNone/>
              <a:defRPr sz="2000" b="1"/>
            </a:lvl2pPr>
            <a:lvl3pPr marL="1371600" lvl="2" indent="-228600" algn="l">
              <a:lnSpc>
                <a:spcPct val="90000"/>
              </a:lnSpc>
              <a:spcBef>
                <a:spcPts val="500"/>
              </a:spcBef>
              <a:spcAft>
                <a:spcPts val="0"/>
              </a:spcAft>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SzPts val="2400"/>
              <a:buNone/>
              <a:defRPr sz="2400" b="1"/>
            </a:lvl1pPr>
            <a:lvl2pPr marL="914400" lvl="1" indent="-228600" algn="l">
              <a:lnSpc>
                <a:spcPct val="90000"/>
              </a:lnSpc>
              <a:spcBef>
                <a:spcPts val="500"/>
              </a:spcBef>
              <a:spcAft>
                <a:spcPts val="0"/>
              </a:spcAft>
              <a:buSzPts val="2000"/>
              <a:buNone/>
              <a:defRPr sz="2000" b="1"/>
            </a:lvl2pPr>
            <a:lvl3pPr marL="1371600" lvl="2" indent="-228600" algn="l">
              <a:lnSpc>
                <a:spcPct val="90000"/>
              </a:lnSpc>
              <a:spcBef>
                <a:spcPts val="500"/>
              </a:spcBef>
              <a:spcAft>
                <a:spcPts val="0"/>
              </a:spcAft>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7" name="Google Shape;47;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1"/>
        <p:cNvGrpSpPr/>
        <p:nvPr/>
      </p:nvGrpSpPr>
      <p:grpSpPr>
        <a:xfrm>
          <a:off x="0" y="0"/>
          <a:ext cx="0" cy="0"/>
          <a:chOff x="0" y="0"/>
          <a:chExt cx="0" cy="0"/>
        </a:xfrm>
      </p:grpSpPr>
      <p:sp>
        <p:nvSpPr>
          <p:cNvPr id="52" name="Google Shape;52;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0"/>
        <p:cNvGrpSpPr/>
        <p:nvPr/>
      </p:nvGrpSpPr>
      <p:grpSpPr>
        <a:xfrm>
          <a:off x="0" y="0"/>
          <a:ext cx="0" cy="0"/>
          <a:chOff x="0" y="0"/>
          <a:chExt cx="0" cy="0"/>
        </a:xfrm>
      </p:grpSpPr>
      <p:sp>
        <p:nvSpPr>
          <p:cNvPr id="61" name="Google Shape;61;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008AA5"/>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SzPts val="3200"/>
              <a:buChar char="•"/>
              <a:defRPr sz="3200"/>
            </a:lvl1pPr>
            <a:lvl2pPr marL="914400" lvl="1" indent="-406400" algn="l">
              <a:lnSpc>
                <a:spcPct val="90000"/>
              </a:lnSpc>
              <a:spcBef>
                <a:spcPts val="500"/>
              </a:spcBef>
              <a:spcAft>
                <a:spcPts val="0"/>
              </a:spcAft>
              <a:buSzPts val="2800"/>
              <a:buChar char="o"/>
              <a:defRPr sz="2800"/>
            </a:lvl2pPr>
            <a:lvl3pPr marL="1371600" lvl="2" indent="-381000" algn="l">
              <a:lnSpc>
                <a:spcPct val="90000"/>
              </a:lnSpc>
              <a:spcBef>
                <a:spcPts val="500"/>
              </a:spcBef>
              <a:spcAft>
                <a:spcPts val="0"/>
              </a:spcAft>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3" name="Google Shape;63;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1600"/>
              <a:buNone/>
              <a:defRPr sz="1600"/>
            </a:lvl1pPr>
            <a:lvl2pPr marL="914400" lvl="1" indent="-228600" algn="l">
              <a:lnSpc>
                <a:spcPct val="90000"/>
              </a:lnSpc>
              <a:spcBef>
                <a:spcPts val="500"/>
              </a:spcBef>
              <a:spcAft>
                <a:spcPts val="0"/>
              </a:spcAft>
              <a:buSzPts val="1400"/>
              <a:buNone/>
              <a:defRPr sz="1400"/>
            </a:lvl2pPr>
            <a:lvl3pPr marL="1371600" lvl="2" indent="-228600" algn="l">
              <a:lnSpc>
                <a:spcPct val="90000"/>
              </a:lnSpc>
              <a:spcBef>
                <a:spcPts val="500"/>
              </a:spcBef>
              <a:spcAft>
                <a:spcPts val="0"/>
              </a:spcAft>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4" name="Google Shape;64;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7"/>
        <p:cNvGrpSpPr/>
        <p:nvPr/>
      </p:nvGrpSpPr>
      <p:grpSpPr>
        <a:xfrm>
          <a:off x="0" y="0"/>
          <a:ext cx="0" cy="0"/>
          <a:chOff x="0" y="0"/>
          <a:chExt cx="0" cy="0"/>
        </a:xfrm>
      </p:grpSpPr>
      <p:sp>
        <p:nvSpPr>
          <p:cNvPr id="68" name="Google Shape;68;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008AA5"/>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0"/>
          <p:cNvSpPr>
            <a:spLocks noGrp="1"/>
          </p:cNvSpPr>
          <p:nvPr>
            <p:ph type="pic" idx="2"/>
          </p:nvPr>
        </p:nvSpPr>
        <p:spPr>
          <a:xfrm>
            <a:off x="5183188" y="987425"/>
            <a:ext cx="6172200" cy="4873625"/>
          </a:xfrm>
          <a:prstGeom prst="rect">
            <a:avLst/>
          </a:prstGeom>
          <a:noFill/>
          <a:ln>
            <a:noFill/>
          </a:ln>
        </p:spPr>
      </p:sp>
      <p:sp>
        <p:nvSpPr>
          <p:cNvPr id="70" name="Google Shape;70;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1600"/>
              <a:buNone/>
              <a:defRPr sz="1600"/>
            </a:lvl1pPr>
            <a:lvl2pPr marL="914400" lvl="1" indent="-228600" algn="l">
              <a:lnSpc>
                <a:spcPct val="90000"/>
              </a:lnSpc>
              <a:spcBef>
                <a:spcPts val="500"/>
              </a:spcBef>
              <a:spcAft>
                <a:spcPts val="0"/>
              </a:spcAft>
              <a:buSzPts val="1400"/>
              <a:buNone/>
              <a:defRPr sz="1400"/>
            </a:lvl2pPr>
            <a:lvl3pPr marL="1371600" lvl="2" indent="-228600" algn="l">
              <a:lnSpc>
                <a:spcPct val="90000"/>
              </a:lnSpc>
              <a:spcBef>
                <a:spcPts val="500"/>
              </a:spcBef>
              <a:spcAft>
                <a:spcPts val="0"/>
              </a:spcAft>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1" name="Google Shape;7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4"/>
        <p:cNvGrpSpPr/>
        <p:nvPr/>
      </p:nvGrpSpPr>
      <p:grpSpPr>
        <a:xfrm>
          <a:off x="0" y="0"/>
          <a:ext cx="0" cy="0"/>
          <a:chOff x="0" y="0"/>
          <a:chExt cx="0" cy="0"/>
        </a:xfrm>
      </p:grpSpPr>
      <p:sp>
        <p:nvSpPr>
          <p:cNvPr id="75" name="Google Shape;75;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0"/>
        <p:cNvGrpSpPr/>
        <p:nvPr/>
      </p:nvGrpSpPr>
      <p:grpSpPr>
        <a:xfrm>
          <a:off x="0" y="0"/>
          <a:ext cx="0" cy="0"/>
          <a:chOff x="0" y="0"/>
          <a:chExt cx="0" cy="0"/>
        </a:xfrm>
      </p:grpSpPr>
      <p:sp>
        <p:nvSpPr>
          <p:cNvPr id="81" name="Google Shape;81;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SzPts val="1800"/>
              <a:buChar char="•"/>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3" name="Google Shape;83;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86"/>
        <p:cNvGrpSpPr/>
        <p:nvPr/>
      </p:nvGrpSpPr>
      <p:grpSpPr>
        <a:xfrm>
          <a:off x="0" y="0"/>
          <a:ext cx="0" cy="0"/>
          <a:chOff x="0" y="0"/>
          <a:chExt cx="0" cy="0"/>
        </a:xfrm>
      </p:grpSpPr>
      <p:sp>
        <p:nvSpPr>
          <p:cNvPr id="87" name="Google Shape;87;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0" name="Google Shape;90;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
        <p:nvSpPr>
          <p:cNvPr id="91" name="Google Shape;91;p1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800"/>
              <a:buNone/>
              <a:defRPr b="0">
                <a:solidFill>
                  <a:srgbClr val="004D9E"/>
                </a:solidFill>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Custom Layout">
  <p:cSld name="1_Custom Layout">
    <p:spTree>
      <p:nvGrpSpPr>
        <p:cNvPr id="1" name="Shape 92"/>
        <p:cNvGrpSpPr/>
        <p:nvPr/>
      </p:nvGrpSpPr>
      <p:grpSpPr>
        <a:xfrm>
          <a:off x="0" y="0"/>
          <a:ext cx="0" cy="0"/>
          <a:chOff x="0" y="0"/>
          <a:chExt cx="0" cy="0"/>
        </a:xfrm>
      </p:grpSpPr>
      <p:sp>
        <p:nvSpPr>
          <p:cNvPr id="93" name="Google Shape;9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008AA5"/>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4" name="Google Shape;94;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5" name="Google Shape;95;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
        <p:nvSpPr>
          <p:cNvPr id="97" name="Google Shape;97;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SzPts val="2800"/>
              <a:buNone/>
              <a:defRPr i="1">
                <a:solidFill>
                  <a:srgbClr val="00BB64"/>
                </a:solidFill>
              </a:defRPr>
            </a:lvl1pPr>
            <a:lvl2pPr marL="914400" lvl="1" indent="-342900" algn="l">
              <a:lnSpc>
                <a:spcPct val="90000"/>
              </a:lnSpc>
              <a:spcBef>
                <a:spcPts val="500"/>
              </a:spcBef>
              <a:spcAft>
                <a:spcPts val="0"/>
              </a:spcAft>
              <a:buSzPts val="1800"/>
              <a:buChar char="o"/>
              <a:defRPr/>
            </a:lvl2pPr>
            <a:lvl3pPr marL="1371600" lvl="2" indent="-342900" algn="l">
              <a:lnSpc>
                <a:spcPct val="90000"/>
              </a:lnSpc>
              <a:spcBef>
                <a:spcPts val="500"/>
              </a:spcBef>
              <a:spcAft>
                <a:spcPts val="0"/>
              </a:spcAft>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1" descr="A white background with black and white clouds&#10;&#10;Description automatically generated"/>
          <p:cNvPicPr preferRelativeResize="0"/>
          <p:nvPr/>
        </p:nvPicPr>
        <p:blipFill rotWithShape="1">
          <a:blip r:embed="rId15">
            <a:alphaModFix/>
          </a:blip>
          <a:srcRect/>
          <a:stretch/>
        </p:blipFill>
        <p:spPr>
          <a:xfrm>
            <a:off x="0" y="0"/>
            <a:ext cx="12192000" cy="6858000"/>
          </a:xfrm>
          <a:prstGeom prst="rect">
            <a:avLst/>
          </a:prstGeom>
          <a:noFill/>
          <a:ln>
            <a:noFill/>
          </a:ln>
        </p:spPr>
      </p:pic>
      <p:sp>
        <p:nvSpPr>
          <p:cNvPr id="11" name="Google Shape;11;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rgbClr val="008AA5"/>
              </a:buClr>
              <a:buSzPts val="4400"/>
              <a:buFont typeface="Play"/>
              <a:buNone/>
              <a:defRPr sz="4400" b="0" i="0" u="none" strike="noStrike" cap="none">
                <a:solidFill>
                  <a:srgbClr val="008AA5"/>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2" name="Google Shape;12;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rgbClr val="004D9E"/>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rgbClr val="00BB64"/>
              </a:buClr>
              <a:buSzPts val="2400"/>
              <a:buFont typeface="Courier New"/>
              <a:buChar char="o"/>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rgbClr val="FCAF00"/>
              </a:buClr>
              <a:buSzPts val="2000"/>
              <a:buFont typeface="Noto Sans Symbols"/>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4" name="Google Shape;14;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5" name="Google Shape;15;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pic>
        <p:nvPicPr>
          <p:cNvPr id="16" name="Google Shape;16;p1" descr="A blue circle with yellow and green stripes&#10;&#10;Description automatically generated"/>
          <p:cNvPicPr preferRelativeResize="0"/>
          <p:nvPr/>
        </p:nvPicPr>
        <p:blipFill rotWithShape="1">
          <a:blip r:embed="rId16">
            <a:alphaModFix/>
          </a:blip>
          <a:srcRect/>
          <a:stretch/>
        </p:blipFill>
        <p:spPr>
          <a:xfrm>
            <a:off x="11449939" y="6075553"/>
            <a:ext cx="645922" cy="645922"/>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jp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12.jp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2.jp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sphereppl.zulipchat.com/join/olwtpi7g3wbyh5mxv4uwipaw/" TargetMode="External"/><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8.jpg"/></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SPHERE-PPL/HFC-Lyme-Disease"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hyperlink" Target="https://github.com/SPHERE-PPL/Competition-Example-Mpox" TargetMode="External"/><Relationship Id="rId4" Type="http://schemas.openxmlformats.org/officeDocument/2006/relationships/hyperlink" Target="https://sphere-ppl.org/pages/Forecasting_Contests/"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www.sphere-ppl.org/"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hyperlink" Target="mailto:info@sphere-ppl.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008AA5"/>
              </a:buClr>
              <a:buSzPts val="6000"/>
              <a:buFont typeface="Play"/>
              <a:buNone/>
            </a:pPr>
            <a:r>
              <a:rPr lang="en-GB"/>
              <a:t>NHS Forecasting Contest Kick-Off</a:t>
            </a:r>
            <a:endParaRPr/>
          </a:p>
        </p:txBody>
      </p:sp>
      <p:sp>
        <p:nvSpPr>
          <p:cNvPr id="103" name="Google Shape;103;p1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SzPts val="2000"/>
              <a:buNone/>
            </a:pPr>
            <a:r>
              <a:rPr lang="en-GB" sz="2000">
                <a:solidFill>
                  <a:schemeClr val="accent3"/>
                </a:solidFill>
              </a:rPr>
              <a:t>Rich Wood, Nick Howlett, Alex Rabeau, Will Pearse</a:t>
            </a:r>
            <a:endParaRPr>
              <a:highlight>
                <a:srgbClr val="FFFF00"/>
              </a:highlight>
            </a:endParaRPr>
          </a:p>
        </p:txBody>
      </p:sp>
      <p:sp>
        <p:nvSpPr>
          <p:cNvPr id="104" name="Google Shape;104;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SzPts val="1400"/>
              <a:buNone/>
            </a:pPr>
            <a:r>
              <a:rPr lang="en-GB"/>
              <a:t>Spatial, Health &amp; Environmental Research Using Probabilistic Programming Languages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a:t>Outline</a:t>
            </a:r>
            <a:endParaRPr/>
          </a:p>
        </p:txBody>
      </p:sp>
      <p:grpSp>
        <p:nvGrpSpPr>
          <p:cNvPr id="110" name="Google Shape;110;p16"/>
          <p:cNvGrpSpPr/>
          <p:nvPr/>
        </p:nvGrpSpPr>
        <p:grpSpPr>
          <a:xfrm>
            <a:off x="2297258" y="1693277"/>
            <a:ext cx="7597483" cy="4349570"/>
            <a:chOff x="1459058" y="883"/>
            <a:chExt cx="7597483" cy="4349570"/>
          </a:xfrm>
        </p:grpSpPr>
        <p:sp>
          <p:nvSpPr>
            <p:cNvPr id="111" name="Google Shape;111;p16"/>
            <p:cNvSpPr/>
            <p:nvPr/>
          </p:nvSpPr>
          <p:spPr>
            <a:xfrm rot="10800000">
              <a:off x="2063667" y="883"/>
              <a:ext cx="6992874" cy="1209216"/>
            </a:xfrm>
            <a:prstGeom prst="homePlate">
              <a:avLst>
                <a:gd name="adj" fmla="val 50000"/>
              </a:avLst>
            </a:prstGeom>
            <a:solidFill>
              <a:schemeClr val="accent2"/>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txBox="1"/>
            <p:nvPr/>
          </p:nvSpPr>
          <p:spPr>
            <a:xfrm>
              <a:off x="2365971" y="883"/>
              <a:ext cx="6690570" cy="1209216"/>
            </a:xfrm>
            <a:prstGeom prst="rect">
              <a:avLst/>
            </a:prstGeom>
            <a:noFill/>
            <a:ln>
              <a:noFill/>
            </a:ln>
          </p:spPr>
          <p:txBody>
            <a:bodyPr spcFirstLastPara="1" wrap="square" lIns="533225" tIns="125725" rIns="234675" bIns="125725" anchor="ctr" anchorCtr="0">
              <a:noAutofit/>
            </a:bodyPr>
            <a:lstStyle/>
            <a:p>
              <a:pPr marL="0" marR="0" lvl="0" indent="0" algn="ctr" rtl="0">
                <a:lnSpc>
                  <a:spcPct val="90000"/>
                </a:lnSpc>
                <a:spcBef>
                  <a:spcPts val="0"/>
                </a:spcBef>
                <a:spcAft>
                  <a:spcPts val="0"/>
                </a:spcAft>
                <a:buClr>
                  <a:schemeClr val="lt1"/>
                </a:buClr>
                <a:buSzPts val="3300"/>
                <a:buFont typeface="Arial"/>
                <a:buNone/>
              </a:pPr>
              <a:r>
                <a:rPr lang="en-GB" sz="3300" b="0" i="0" u="none" strike="noStrike" cap="none">
                  <a:solidFill>
                    <a:schemeClr val="lt1"/>
                  </a:solidFill>
                  <a:latin typeface="Arial"/>
                  <a:ea typeface="Arial"/>
                  <a:cs typeface="Arial"/>
                  <a:sym typeface="Arial"/>
                </a:rPr>
                <a:t>Introduction from SPHERE-PPL Team</a:t>
              </a: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1459058" y="883"/>
              <a:ext cx="1209216" cy="1209216"/>
            </a:xfrm>
            <a:prstGeom prst="ellipse">
              <a:avLst/>
            </a:prstGeom>
            <a:blipFill rotWithShape="1">
              <a:blip r:embed="rId3">
                <a:alphaModFix/>
              </a:blip>
              <a:stretch>
                <a:fillRect l="-24999" r="-24999"/>
              </a:stretch>
            </a:blip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rot="10800000">
              <a:off x="2063667" y="1571060"/>
              <a:ext cx="6992874" cy="1209216"/>
            </a:xfrm>
            <a:prstGeom prst="homePlate">
              <a:avLst>
                <a:gd name="adj" fmla="val 50000"/>
              </a:avLst>
            </a:prstGeom>
            <a:solidFill>
              <a:srgbClr val="00BB61"/>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txBox="1"/>
            <p:nvPr/>
          </p:nvSpPr>
          <p:spPr>
            <a:xfrm>
              <a:off x="2365971" y="1571060"/>
              <a:ext cx="6690570" cy="1209216"/>
            </a:xfrm>
            <a:prstGeom prst="rect">
              <a:avLst/>
            </a:prstGeom>
            <a:noFill/>
            <a:ln>
              <a:noFill/>
            </a:ln>
          </p:spPr>
          <p:txBody>
            <a:bodyPr spcFirstLastPara="1" wrap="square" lIns="533225" tIns="125725" rIns="234675" bIns="125725" anchor="ctr" anchorCtr="0">
              <a:noAutofit/>
            </a:bodyPr>
            <a:lstStyle/>
            <a:p>
              <a:pPr marL="0" marR="0" lvl="0" indent="0" algn="ctr" rtl="0">
                <a:lnSpc>
                  <a:spcPct val="90000"/>
                </a:lnSpc>
                <a:spcBef>
                  <a:spcPts val="0"/>
                </a:spcBef>
                <a:spcAft>
                  <a:spcPts val="0"/>
                </a:spcAft>
                <a:buClr>
                  <a:schemeClr val="lt1"/>
                </a:buClr>
                <a:buSzPts val="3300"/>
                <a:buFont typeface="Arial"/>
                <a:buNone/>
              </a:pPr>
              <a:r>
                <a:rPr lang="en-GB" sz="3300" b="0" i="0" u="none" strike="noStrike" cap="none">
                  <a:solidFill>
                    <a:schemeClr val="lt1"/>
                  </a:solidFill>
                  <a:latin typeface="Arial"/>
                  <a:ea typeface="Arial"/>
                  <a:cs typeface="Arial"/>
                  <a:sym typeface="Arial"/>
                </a:rPr>
                <a:t>Contest, Timeline &amp; Communication</a:t>
              </a:r>
              <a:endParaRPr sz="1400" b="0" i="0" u="none" strike="noStrike" cap="none">
                <a:solidFill>
                  <a:srgbClr val="000000"/>
                </a:solidFill>
                <a:latin typeface="Arial"/>
                <a:ea typeface="Arial"/>
                <a:cs typeface="Arial"/>
                <a:sym typeface="Arial"/>
              </a:endParaRPr>
            </a:p>
          </p:txBody>
        </p:sp>
        <p:sp>
          <p:nvSpPr>
            <p:cNvPr id="116" name="Google Shape;116;p16"/>
            <p:cNvSpPr/>
            <p:nvPr/>
          </p:nvSpPr>
          <p:spPr>
            <a:xfrm>
              <a:off x="1459058" y="1571060"/>
              <a:ext cx="1209216" cy="1209216"/>
            </a:xfrm>
            <a:prstGeom prst="ellipse">
              <a:avLst/>
            </a:prstGeom>
            <a:blipFill rotWithShape="1">
              <a:blip r:embed="rId4">
                <a:alphaModFix/>
              </a:blip>
              <a:stretch>
                <a:fillRect l="-24999" r="-24999"/>
              </a:stretch>
            </a:blip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p:nvPr/>
          </p:nvSpPr>
          <p:spPr>
            <a:xfrm rot="10800000">
              <a:off x="2063667" y="3141237"/>
              <a:ext cx="6992874" cy="1209216"/>
            </a:xfrm>
            <a:prstGeom prst="homePlate">
              <a:avLst>
                <a:gd name="adj" fmla="val 50000"/>
              </a:avLst>
            </a:prstGeom>
            <a:solidFill>
              <a:schemeClr val="accent4"/>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txBox="1"/>
            <p:nvPr/>
          </p:nvSpPr>
          <p:spPr>
            <a:xfrm>
              <a:off x="2365971" y="3141237"/>
              <a:ext cx="6690570" cy="1209216"/>
            </a:xfrm>
            <a:prstGeom prst="rect">
              <a:avLst/>
            </a:prstGeom>
            <a:noFill/>
            <a:ln>
              <a:noFill/>
            </a:ln>
          </p:spPr>
          <p:txBody>
            <a:bodyPr spcFirstLastPara="1" wrap="square" lIns="533225" tIns="125725" rIns="234675" bIns="125725" anchor="ctr" anchorCtr="0">
              <a:noAutofit/>
            </a:bodyPr>
            <a:lstStyle/>
            <a:p>
              <a:pPr marL="0" marR="0" lvl="0" indent="0" algn="ctr" rtl="0">
                <a:lnSpc>
                  <a:spcPct val="90000"/>
                </a:lnSpc>
                <a:spcBef>
                  <a:spcPts val="0"/>
                </a:spcBef>
                <a:spcAft>
                  <a:spcPts val="0"/>
                </a:spcAft>
                <a:buClr>
                  <a:schemeClr val="lt1"/>
                </a:buClr>
                <a:buSzPts val="3300"/>
                <a:buFont typeface="Arial"/>
                <a:buNone/>
              </a:pPr>
              <a:r>
                <a:rPr lang="en-GB" sz="3300" b="0" i="0" u="none" strike="noStrike" cap="none">
                  <a:solidFill>
                    <a:schemeClr val="lt1"/>
                  </a:solidFill>
                  <a:latin typeface="Arial"/>
                  <a:ea typeface="Arial"/>
                  <a:cs typeface="Arial"/>
                  <a:sym typeface="Arial"/>
                </a:rPr>
                <a:t>Getting Started</a:t>
              </a: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1459058" y="3141237"/>
              <a:ext cx="1209216" cy="1209216"/>
            </a:xfrm>
            <a:prstGeom prst="ellipse">
              <a:avLst/>
            </a:prstGeom>
            <a:blipFill rotWithShape="1">
              <a:blip r:embed="rId5">
                <a:alphaModFix/>
              </a:blip>
              <a:stretch>
                <a:fillRect l="-24000" r="-24000"/>
              </a:stretch>
            </a:blip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1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1800"/>
              <a:buNone/>
            </a:pPr>
            <a:r>
              <a:rPr lang="en-GB"/>
              <a:t>What is SPHERE-PPL doing?</a:t>
            </a:r>
            <a:endParaRPr/>
          </a:p>
        </p:txBody>
      </p:sp>
      <p:sp>
        <p:nvSpPr>
          <p:cNvPr id="125" name="Google Shape;125;p17"/>
          <p:cNvSpPr txBox="1">
            <a:spLocks noGrp="1"/>
          </p:cNvSpPr>
          <p:nvPr>
            <p:ph type="body" idx="1"/>
          </p:nvPr>
        </p:nvSpPr>
        <p:spPr>
          <a:xfrm>
            <a:off x="838200" y="1825625"/>
            <a:ext cx="4435258" cy="4351338"/>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1000"/>
              </a:spcBef>
              <a:spcAft>
                <a:spcPts val="0"/>
              </a:spcAft>
              <a:buSzPts val="1800"/>
              <a:buChar char="•"/>
            </a:pPr>
            <a:r>
              <a:rPr lang="en-GB"/>
              <a:t>Contests</a:t>
            </a:r>
            <a:endParaRPr/>
          </a:p>
          <a:p>
            <a:pPr marL="457200" lvl="0" indent="-342900" algn="l" rtl="0">
              <a:lnSpc>
                <a:spcPct val="90000"/>
              </a:lnSpc>
              <a:spcBef>
                <a:spcPts val="1000"/>
              </a:spcBef>
              <a:spcAft>
                <a:spcPts val="0"/>
              </a:spcAft>
              <a:buSzPts val="1800"/>
              <a:buChar char="•"/>
            </a:pPr>
            <a:r>
              <a:rPr lang="en-GB"/>
              <a:t>Training</a:t>
            </a:r>
            <a:endParaRPr/>
          </a:p>
          <a:p>
            <a:pPr marL="457200" lvl="0" indent="-342900" algn="l" rtl="0">
              <a:lnSpc>
                <a:spcPct val="90000"/>
              </a:lnSpc>
              <a:spcBef>
                <a:spcPts val="1000"/>
              </a:spcBef>
              <a:spcAft>
                <a:spcPts val="0"/>
              </a:spcAft>
              <a:buSzPts val="1800"/>
              <a:buChar char="•"/>
            </a:pPr>
            <a:r>
              <a:rPr lang="en-GB"/>
              <a:t>Networking</a:t>
            </a:r>
            <a:endParaRPr/>
          </a:p>
          <a:p>
            <a:pPr marL="457200" lvl="0" indent="-342900" algn="l" rtl="0">
              <a:lnSpc>
                <a:spcPct val="90000"/>
              </a:lnSpc>
              <a:spcBef>
                <a:spcPts val="1000"/>
              </a:spcBef>
              <a:spcAft>
                <a:spcPts val="0"/>
              </a:spcAft>
              <a:buSzPts val="1800"/>
              <a:buChar char="•"/>
            </a:pPr>
            <a:r>
              <a:rPr lang="en-GB"/>
              <a:t>Research</a:t>
            </a:r>
            <a:endParaRPr/>
          </a:p>
        </p:txBody>
      </p:sp>
      <p:grpSp>
        <p:nvGrpSpPr>
          <p:cNvPr id="126" name="Google Shape;126;p17"/>
          <p:cNvGrpSpPr/>
          <p:nvPr/>
        </p:nvGrpSpPr>
        <p:grpSpPr>
          <a:xfrm>
            <a:off x="5926966" y="1407271"/>
            <a:ext cx="4746896" cy="2359995"/>
            <a:chOff x="5926966" y="1407271"/>
            <a:chExt cx="4746896" cy="2359995"/>
          </a:xfrm>
        </p:grpSpPr>
        <p:pic>
          <p:nvPicPr>
            <p:cNvPr id="127" name="Google Shape;127;p17"/>
            <p:cNvPicPr preferRelativeResize="0"/>
            <p:nvPr/>
          </p:nvPicPr>
          <p:blipFill rotWithShape="1">
            <a:blip r:embed="rId3">
              <a:alphaModFix/>
            </a:blip>
            <a:srcRect/>
            <a:stretch/>
          </p:blipFill>
          <p:spPr>
            <a:xfrm>
              <a:off x="5926966" y="1407271"/>
              <a:ext cx="2375207" cy="1583085"/>
            </a:xfrm>
            <a:prstGeom prst="rect">
              <a:avLst/>
            </a:prstGeom>
            <a:noFill/>
            <a:ln>
              <a:noFill/>
            </a:ln>
          </p:spPr>
        </p:pic>
        <p:pic>
          <p:nvPicPr>
            <p:cNvPr id="128" name="Google Shape;128;p17"/>
            <p:cNvPicPr preferRelativeResize="0"/>
            <p:nvPr/>
          </p:nvPicPr>
          <p:blipFill rotWithShape="1">
            <a:blip r:embed="rId4">
              <a:alphaModFix/>
            </a:blip>
            <a:srcRect/>
            <a:stretch/>
          </p:blipFill>
          <p:spPr>
            <a:xfrm>
              <a:off x="8563630" y="1407271"/>
              <a:ext cx="2110232" cy="1583085"/>
            </a:xfrm>
            <a:prstGeom prst="rect">
              <a:avLst/>
            </a:prstGeom>
            <a:noFill/>
            <a:ln>
              <a:noFill/>
            </a:ln>
          </p:spPr>
        </p:pic>
        <p:pic>
          <p:nvPicPr>
            <p:cNvPr id="129" name="Google Shape;129;p17"/>
            <p:cNvPicPr preferRelativeResize="0"/>
            <p:nvPr/>
          </p:nvPicPr>
          <p:blipFill rotWithShape="1">
            <a:blip r:embed="rId5">
              <a:alphaModFix/>
            </a:blip>
            <a:srcRect/>
            <a:stretch/>
          </p:blipFill>
          <p:spPr>
            <a:xfrm>
              <a:off x="6646757" y="2990356"/>
              <a:ext cx="3310832" cy="776910"/>
            </a:xfrm>
            <a:prstGeom prst="rect">
              <a:avLst/>
            </a:prstGeom>
            <a:noFill/>
            <a:ln>
              <a:noFill/>
            </a:ln>
          </p:spPr>
        </p:pic>
      </p:grpSp>
      <p:pic>
        <p:nvPicPr>
          <p:cNvPr id="130" name="Google Shape;130;p17"/>
          <p:cNvPicPr preferRelativeResize="0"/>
          <p:nvPr/>
        </p:nvPicPr>
        <p:blipFill rotWithShape="1">
          <a:blip r:embed="rId6">
            <a:alphaModFix/>
          </a:blip>
          <a:srcRect/>
          <a:stretch/>
        </p:blipFill>
        <p:spPr>
          <a:xfrm>
            <a:off x="3303763" y="4127438"/>
            <a:ext cx="3939390" cy="2217062"/>
          </a:xfrm>
          <a:prstGeom prst="rect">
            <a:avLst/>
          </a:prstGeom>
          <a:noFill/>
          <a:ln>
            <a:noFill/>
          </a:ln>
        </p:spPr>
      </p:pic>
      <p:pic>
        <p:nvPicPr>
          <p:cNvPr id="131" name="Google Shape;131;p17"/>
          <p:cNvPicPr preferRelativeResize="0"/>
          <p:nvPr/>
        </p:nvPicPr>
        <p:blipFill rotWithShape="1">
          <a:blip r:embed="rId7">
            <a:alphaModFix/>
          </a:blip>
          <a:srcRect/>
          <a:stretch/>
        </p:blipFill>
        <p:spPr>
          <a:xfrm>
            <a:off x="7782550" y="4102339"/>
            <a:ext cx="3571250" cy="251523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1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1800"/>
              <a:buNone/>
            </a:pPr>
            <a:r>
              <a:rPr lang="en-GB"/>
              <a:t>Introduction</a:t>
            </a:r>
            <a:endParaRPr/>
          </a:p>
        </p:txBody>
      </p:sp>
      <p:sp>
        <p:nvSpPr>
          <p:cNvPr id="137" name="Google Shape;137;p18"/>
          <p:cNvSpPr txBox="1">
            <a:spLocks noGrp="1"/>
          </p:cNvSpPr>
          <p:nvPr>
            <p:ph type="body" idx="1"/>
          </p:nvPr>
        </p:nvSpPr>
        <p:spPr>
          <a:xfrm>
            <a:off x="838200" y="1825625"/>
            <a:ext cx="70524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1000"/>
              </a:spcBef>
              <a:spcAft>
                <a:spcPts val="0"/>
              </a:spcAft>
              <a:buSzPts val="1800"/>
              <a:buChar char="•"/>
            </a:pPr>
            <a:r>
              <a:rPr lang="en-GB"/>
              <a:t>Delays in admitting Emergency Department (ED) patients occur when no hospital beds are available after a decision to admit.</a:t>
            </a:r>
            <a:endParaRPr/>
          </a:p>
          <a:p>
            <a:pPr marL="457200" lvl="0" indent="-228600" algn="l" rtl="0">
              <a:lnSpc>
                <a:spcPct val="90000"/>
              </a:lnSpc>
              <a:spcBef>
                <a:spcPts val="1000"/>
              </a:spcBef>
              <a:spcAft>
                <a:spcPts val="0"/>
              </a:spcAft>
              <a:buSzPts val="1800"/>
              <a:buNone/>
            </a:pPr>
            <a:endParaRPr/>
          </a:p>
          <a:p>
            <a:pPr marL="457200" lvl="0" indent="-342900" algn="l" rtl="0">
              <a:lnSpc>
                <a:spcPct val="90000"/>
              </a:lnSpc>
              <a:spcBef>
                <a:spcPts val="1000"/>
              </a:spcBef>
              <a:spcAft>
                <a:spcPts val="0"/>
              </a:spcAft>
              <a:buSzPts val="1800"/>
              <a:buChar char="•"/>
            </a:pPr>
            <a:r>
              <a:rPr lang="en-GB"/>
              <a:t>Each 4-hour delay increases the odds of 30-day mortality by 8%, equivalent to around 25 avoidable deaths per month in Bristol.</a:t>
            </a:r>
            <a:endParaRPr/>
          </a:p>
        </p:txBody>
      </p:sp>
      <p:sp>
        <p:nvSpPr>
          <p:cNvPr id="138" name="Google Shape;138;p1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rmAutofit fontScale="92500" lnSpcReduction="10000"/>
          </a:bodyPr>
          <a:lstStyle/>
          <a:p>
            <a:pPr marL="0" lvl="0" indent="0" algn="ctr" rtl="0">
              <a:lnSpc>
                <a:spcPct val="90000"/>
              </a:lnSpc>
              <a:spcBef>
                <a:spcPts val="0"/>
              </a:spcBef>
              <a:spcAft>
                <a:spcPts val="600"/>
              </a:spcAft>
              <a:buSzPts val="1514"/>
              <a:buNone/>
            </a:pPr>
            <a:r>
              <a:rPr lang="en-GB" sz="900"/>
              <a:t>Spatial, Health &amp; Environmental Research using Probabilistic Programming Languages</a:t>
            </a:r>
            <a:endParaRPr/>
          </a:p>
        </p:txBody>
      </p:sp>
      <p:pic>
        <p:nvPicPr>
          <p:cNvPr id="139" name="Google Shape;139;p18" descr="South West region shown within England"/>
          <p:cNvPicPr preferRelativeResize="0"/>
          <p:nvPr/>
        </p:nvPicPr>
        <p:blipFill rotWithShape="1">
          <a:blip r:embed="rId3">
            <a:alphaModFix/>
          </a:blip>
          <a:srcRect/>
          <a:stretch/>
        </p:blipFill>
        <p:spPr>
          <a:xfrm>
            <a:off x="9118662" y="806914"/>
            <a:ext cx="2235137" cy="2714591"/>
          </a:xfrm>
          <a:prstGeom prst="rect">
            <a:avLst/>
          </a:prstGeom>
          <a:noFill/>
          <a:ln>
            <a:noFill/>
          </a:ln>
        </p:spPr>
      </p:pic>
      <p:pic>
        <p:nvPicPr>
          <p:cNvPr id="140" name="Google Shape;140;p18" descr="More than 500 deaths in England last year after long ambulance wait | NHS |  The Guardian"/>
          <p:cNvPicPr preferRelativeResize="0"/>
          <p:nvPr/>
        </p:nvPicPr>
        <p:blipFill rotWithShape="1">
          <a:blip r:embed="rId4">
            <a:alphaModFix/>
          </a:blip>
          <a:srcRect/>
          <a:stretch/>
        </p:blipFill>
        <p:spPr>
          <a:xfrm>
            <a:off x="8153400" y="3776663"/>
            <a:ext cx="3200400" cy="2400300"/>
          </a:xfrm>
          <a:prstGeom prst="rect">
            <a:avLst/>
          </a:prstGeom>
          <a:noFill/>
          <a:ln>
            <a:noFill/>
          </a:ln>
        </p:spPr>
      </p:pic>
      <p:grpSp>
        <p:nvGrpSpPr>
          <p:cNvPr id="141" name="Google Shape;141;p18"/>
          <p:cNvGrpSpPr/>
          <p:nvPr/>
        </p:nvGrpSpPr>
        <p:grpSpPr>
          <a:xfrm rot="-899960">
            <a:off x="569121" y="1930918"/>
            <a:ext cx="11053757" cy="3181174"/>
            <a:chOff x="784682" y="-725922"/>
            <a:chExt cx="11054087" cy="3181269"/>
          </a:xfrm>
        </p:grpSpPr>
        <p:pic>
          <p:nvPicPr>
            <p:cNvPr id="142" name="Google Shape;142;p18"/>
            <p:cNvPicPr preferRelativeResize="0"/>
            <p:nvPr/>
          </p:nvPicPr>
          <p:blipFill>
            <a:blip r:embed="rId5">
              <a:alphaModFix/>
            </a:blip>
            <a:stretch>
              <a:fillRect/>
            </a:stretch>
          </p:blipFill>
          <p:spPr>
            <a:xfrm rot="-1">
              <a:off x="784682" y="-725919"/>
              <a:ext cx="11054087" cy="3181265"/>
            </a:xfrm>
            <a:prstGeom prst="rect">
              <a:avLst/>
            </a:prstGeom>
            <a:noFill/>
            <a:ln>
              <a:noFill/>
            </a:ln>
            <a:effectLst>
              <a:outerShdw blurRad="57150" dist="19050" dir="5400000" algn="bl" rotWithShape="0">
                <a:srgbClr val="000000">
                  <a:alpha val="50000"/>
                </a:srgbClr>
              </a:outerShdw>
            </a:effectLst>
          </p:spPr>
        </p:pic>
        <p:sp>
          <p:nvSpPr>
            <p:cNvPr id="143" name="Google Shape;143;p18"/>
            <p:cNvSpPr/>
            <p:nvPr/>
          </p:nvSpPr>
          <p:spPr>
            <a:xfrm rot="415">
              <a:off x="909150" y="1229400"/>
              <a:ext cx="2485800" cy="101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GB" sz="2000">
                  <a:solidFill>
                    <a:srgbClr val="434343"/>
                  </a:solidFill>
                </a:rPr>
                <a:t>(2026)</a:t>
              </a:r>
              <a:br>
                <a:rPr lang="en-GB" sz="2000">
                  <a:solidFill>
                    <a:srgbClr val="434343"/>
                  </a:solidFill>
                </a:rPr>
              </a:br>
              <a:r>
                <a:rPr lang="en-GB" sz="2000">
                  <a:solidFill>
                    <a:srgbClr val="434343"/>
                  </a:solidFill>
                </a:rPr>
                <a:t>Emergency Medicine</a:t>
              </a:r>
              <a:br>
                <a:rPr lang="en-GB" sz="2000">
                  <a:solidFill>
                    <a:srgbClr val="434343"/>
                  </a:solidFill>
                </a:rPr>
              </a:br>
              <a:r>
                <a:rPr lang="en-GB" sz="2000">
                  <a:solidFill>
                    <a:srgbClr val="434343"/>
                  </a:solidFill>
                </a:rPr>
                <a:t>Journal</a:t>
              </a:r>
              <a:endParaRPr sz="2000">
                <a:solidFill>
                  <a:srgbClr val="434343"/>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19"/>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1800"/>
              <a:buNone/>
            </a:pPr>
            <a:r>
              <a:rPr lang="en-GB"/>
              <a:t>Introduction</a:t>
            </a:r>
            <a:endParaRPr/>
          </a:p>
        </p:txBody>
      </p:sp>
      <p:sp>
        <p:nvSpPr>
          <p:cNvPr id="149" name="Google Shape;149;p19"/>
          <p:cNvSpPr txBox="1">
            <a:spLocks noGrp="1"/>
          </p:cNvSpPr>
          <p:nvPr>
            <p:ph type="body" idx="1"/>
          </p:nvPr>
        </p:nvSpPr>
        <p:spPr>
          <a:xfrm>
            <a:off x="838200" y="1825625"/>
            <a:ext cx="70524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1000"/>
              </a:spcBef>
              <a:spcAft>
                <a:spcPts val="0"/>
              </a:spcAft>
              <a:buSzPts val="1800"/>
              <a:buChar char="•"/>
            </a:pPr>
            <a:r>
              <a:rPr lang="en-GB"/>
              <a:t>Delays in admitting Emergency Department (ED) patients occur when no hospital beds are available after a decision to admit.</a:t>
            </a:r>
            <a:endParaRPr/>
          </a:p>
          <a:p>
            <a:pPr marL="457200" lvl="0" indent="-228600" algn="l" rtl="0">
              <a:lnSpc>
                <a:spcPct val="90000"/>
              </a:lnSpc>
              <a:spcBef>
                <a:spcPts val="1000"/>
              </a:spcBef>
              <a:spcAft>
                <a:spcPts val="0"/>
              </a:spcAft>
              <a:buSzPts val="1800"/>
              <a:buNone/>
            </a:pPr>
            <a:endParaRPr/>
          </a:p>
          <a:p>
            <a:pPr marL="457200" lvl="0" indent="-342900" algn="l" rtl="0">
              <a:lnSpc>
                <a:spcPct val="90000"/>
              </a:lnSpc>
              <a:spcBef>
                <a:spcPts val="1000"/>
              </a:spcBef>
              <a:spcAft>
                <a:spcPts val="0"/>
              </a:spcAft>
              <a:buSzPts val="1800"/>
              <a:buChar char="•"/>
            </a:pPr>
            <a:r>
              <a:rPr lang="en-GB"/>
              <a:t>Each 4-hour delay increases the odds of 30-day mortality by 8%, equivalent to around 25 avoidable deaths per month in Bristol.</a:t>
            </a:r>
            <a:endParaRPr/>
          </a:p>
        </p:txBody>
      </p:sp>
      <p:sp>
        <p:nvSpPr>
          <p:cNvPr id="150" name="Google Shape;150;p1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rmAutofit fontScale="92500" lnSpcReduction="10000"/>
          </a:bodyPr>
          <a:lstStyle/>
          <a:p>
            <a:pPr marL="0" lvl="0" indent="0" algn="ctr" rtl="0">
              <a:lnSpc>
                <a:spcPct val="90000"/>
              </a:lnSpc>
              <a:spcBef>
                <a:spcPts val="0"/>
              </a:spcBef>
              <a:spcAft>
                <a:spcPts val="600"/>
              </a:spcAft>
              <a:buSzPts val="1514"/>
              <a:buNone/>
            </a:pPr>
            <a:r>
              <a:rPr lang="en-GB" sz="900"/>
              <a:t>Spatial, Health &amp; Environmental Research using Probabilistic Programming Languages</a:t>
            </a:r>
            <a:endParaRPr/>
          </a:p>
        </p:txBody>
      </p:sp>
      <p:pic>
        <p:nvPicPr>
          <p:cNvPr id="151" name="Google Shape;151;p19" descr="South West region shown within England"/>
          <p:cNvPicPr preferRelativeResize="0"/>
          <p:nvPr/>
        </p:nvPicPr>
        <p:blipFill rotWithShape="1">
          <a:blip r:embed="rId3">
            <a:alphaModFix/>
          </a:blip>
          <a:srcRect/>
          <a:stretch/>
        </p:blipFill>
        <p:spPr>
          <a:xfrm>
            <a:off x="9118662" y="806914"/>
            <a:ext cx="2235137" cy="2714591"/>
          </a:xfrm>
          <a:prstGeom prst="rect">
            <a:avLst/>
          </a:prstGeom>
          <a:noFill/>
          <a:ln>
            <a:noFill/>
          </a:ln>
        </p:spPr>
      </p:pic>
      <p:pic>
        <p:nvPicPr>
          <p:cNvPr id="152" name="Google Shape;152;p19" descr="More than 500 deaths in England last year after long ambulance wait | NHS |  The Guardian"/>
          <p:cNvPicPr preferRelativeResize="0"/>
          <p:nvPr/>
        </p:nvPicPr>
        <p:blipFill rotWithShape="1">
          <a:blip r:embed="rId4">
            <a:alphaModFix/>
          </a:blip>
          <a:srcRect/>
          <a:stretch/>
        </p:blipFill>
        <p:spPr>
          <a:xfrm>
            <a:off x="8153400" y="3776663"/>
            <a:ext cx="3200400" cy="24003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1800"/>
              <a:buNone/>
            </a:pPr>
            <a:r>
              <a:rPr lang="en-GB"/>
              <a:t>Data</a:t>
            </a:r>
            <a:endParaRPr/>
          </a:p>
        </p:txBody>
      </p:sp>
      <p:sp>
        <p:nvSpPr>
          <p:cNvPr id="158" name="Google Shape;158;p20"/>
          <p:cNvSpPr txBox="1">
            <a:spLocks noGrp="1"/>
          </p:cNvSpPr>
          <p:nvPr>
            <p:ph type="body" idx="1"/>
          </p:nvPr>
        </p:nvSpPr>
        <p:spPr>
          <a:xfrm>
            <a:off x="838198" y="1825625"/>
            <a:ext cx="73152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1000"/>
              </a:spcBef>
              <a:spcAft>
                <a:spcPts val="0"/>
              </a:spcAft>
              <a:buSzPts val="1800"/>
              <a:buChar char="•"/>
            </a:pPr>
            <a:r>
              <a:rPr lang="en-GB"/>
              <a:t>Predictors: </a:t>
            </a:r>
            <a:endParaRPr/>
          </a:p>
          <a:p>
            <a:pPr marL="914400" lvl="1" indent="-342900" algn="l" rtl="0">
              <a:lnSpc>
                <a:spcPct val="90000"/>
              </a:lnSpc>
              <a:spcBef>
                <a:spcPts val="500"/>
              </a:spcBef>
              <a:spcAft>
                <a:spcPts val="0"/>
              </a:spcAft>
              <a:buSzPts val="1800"/>
              <a:buChar char="o"/>
            </a:pPr>
            <a:r>
              <a:rPr lang="en-GB"/>
              <a:t>220 variables</a:t>
            </a:r>
            <a:endParaRPr/>
          </a:p>
          <a:p>
            <a:pPr marL="914400" lvl="1" indent="-342900" algn="l" rtl="0">
              <a:lnSpc>
                <a:spcPct val="90000"/>
              </a:lnSpc>
              <a:spcBef>
                <a:spcPts val="500"/>
              </a:spcBef>
              <a:spcAft>
                <a:spcPts val="0"/>
              </a:spcAft>
              <a:buSzPts val="1800"/>
              <a:buChar char="o"/>
            </a:pPr>
            <a:r>
              <a:rPr lang="en-GB"/>
              <a:t>Hospital, ambulance, ED, primary care</a:t>
            </a:r>
            <a:endParaRPr/>
          </a:p>
          <a:p>
            <a:pPr marL="457200" lvl="0" indent="-342900" algn="l" rtl="0">
              <a:lnSpc>
                <a:spcPct val="90000"/>
              </a:lnSpc>
              <a:spcBef>
                <a:spcPts val="1000"/>
              </a:spcBef>
              <a:spcAft>
                <a:spcPts val="0"/>
              </a:spcAft>
              <a:buSzPts val="1800"/>
              <a:buChar char="•"/>
            </a:pPr>
            <a:r>
              <a:rPr lang="en-GB"/>
              <a:t>Outcome variable: Estimated avoidable deaths</a:t>
            </a:r>
            <a:endParaRPr/>
          </a:p>
          <a:p>
            <a:pPr marL="457200" lvl="0" indent="-342900" algn="l" rtl="0">
              <a:lnSpc>
                <a:spcPct val="90000"/>
              </a:lnSpc>
              <a:spcBef>
                <a:spcPts val="1000"/>
              </a:spcBef>
              <a:spcAft>
                <a:spcPts val="0"/>
              </a:spcAft>
              <a:buSzPts val="1800"/>
              <a:buChar char="•"/>
            </a:pPr>
            <a:r>
              <a:rPr lang="en-GB"/>
              <a:t>2.5 years of data (Mar 2023 – Sep 2025)</a:t>
            </a:r>
            <a:endParaRPr/>
          </a:p>
          <a:p>
            <a:pPr marL="914400" lvl="1" indent="-342900" algn="l" rtl="0">
              <a:lnSpc>
                <a:spcPct val="90000"/>
              </a:lnSpc>
              <a:spcBef>
                <a:spcPts val="500"/>
              </a:spcBef>
              <a:spcAft>
                <a:spcPts val="0"/>
              </a:spcAft>
              <a:buSzPts val="1800"/>
              <a:buChar char="o"/>
            </a:pPr>
            <a:r>
              <a:rPr lang="en-GB"/>
              <a:t>15 min – 24 hr temporal resolution</a:t>
            </a:r>
            <a:endParaRPr/>
          </a:p>
        </p:txBody>
      </p:sp>
      <p:sp>
        <p:nvSpPr>
          <p:cNvPr id="159" name="Google Shape;159;p2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rmAutofit fontScale="92500" lnSpcReduction="10000"/>
          </a:bodyPr>
          <a:lstStyle/>
          <a:p>
            <a:pPr marL="0" lvl="0" indent="0" algn="ctr" rtl="0">
              <a:lnSpc>
                <a:spcPct val="90000"/>
              </a:lnSpc>
              <a:spcBef>
                <a:spcPts val="0"/>
              </a:spcBef>
              <a:spcAft>
                <a:spcPts val="600"/>
              </a:spcAft>
              <a:buSzPct val="168167"/>
              <a:buNone/>
            </a:pPr>
            <a:r>
              <a:rPr lang="en-GB" sz="900"/>
              <a:t>Spatial, Health &amp; Environmental Research using Probabilistic Programming Languages</a:t>
            </a:r>
            <a:endParaRPr/>
          </a:p>
        </p:txBody>
      </p:sp>
      <p:pic>
        <p:nvPicPr>
          <p:cNvPr id="160" name="Google Shape;160;p20" descr="A graph showing a number of data&#10;&#10;AI-generated content may be incorrect."/>
          <p:cNvPicPr preferRelativeResize="0"/>
          <p:nvPr/>
        </p:nvPicPr>
        <p:blipFill rotWithShape="1">
          <a:blip r:embed="rId3">
            <a:alphaModFix/>
          </a:blip>
          <a:srcRect/>
          <a:stretch/>
        </p:blipFill>
        <p:spPr>
          <a:xfrm>
            <a:off x="8153399" y="4173861"/>
            <a:ext cx="3204894" cy="2003104"/>
          </a:xfrm>
          <a:prstGeom prst="rect">
            <a:avLst/>
          </a:prstGeom>
          <a:noFill/>
          <a:ln>
            <a:noFill/>
          </a:ln>
        </p:spPr>
      </p:pic>
      <p:pic>
        <p:nvPicPr>
          <p:cNvPr id="161" name="Google Shape;161;p20"/>
          <p:cNvPicPr preferRelativeResize="0"/>
          <p:nvPr/>
        </p:nvPicPr>
        <p:blipFill rotWithShape="1">
          <a:blip r:embed="rId4">
            <a:alphaModFix/>
          </a:blip>
          <a:srcRect/>
          <a:stretch/>
        </p:blipFill>
        <p:spPr>
          <a:xfrm>
            <a:off x="8717794" y="365125"/>
            <a:ext cx="2636007" cy="372790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a:t>Contest Outputs</a:t>
            </a:r>
            <a:endParaRPr/>
          </a:p>
        </p:txBody>
      </p:sp>
      <p:sp>
        <p:nvSpPr>
          <p:cNvPr id="167" name="Google Shape;16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SzPts val="2800"/>
              <a:buNone/>
            </a:pPr>
            <a:r>
              <a:rPr lang="en-GB" b="1" i="1">
                <a:solidFill>
                  <a:srgbClr val="004D9E"/>
                </a:solidFill>
              </a:rPr>
              <a:t>For this contest, we are looking to forecast Estimated Number of Avoidable Deaths across 1 - 10 day horizons. Forecasts and reports should be saved into the submission folder, matching the template found within.</a:t>
            </a:r>
            <a:endParaRPr/>
          </a:p>
          <a:p>
            <a:pPr marL="0" lvl="0" indent="0" algn="l" rtl="0">
              <a:lnSpc>
                <a:spcPct val="90000"/>
              </a:lnSpc>
              <a:spcBef>
                <a:spcPts val="0"/>
              </a:spcBef>
              <a:spcAft>
                <a:spcPts val="0"/>
              </a:spcAft>
              <a:buSzPts val="2800"/>
              <a:buNone/>
            </a:pPr>
            <a:endParaRPr sz="2000" b="1" i="1" u="sng"/>
          </a:p>
          <a:p>
            <a:pPr marL="457200" lvl="0" indent="-342900" algn="l" rtl="0">
              <a:lnSpc>
                <a:spcPct val="90000"/>
              </a:lnSpc>
              <a:spcBef>
                <a:spcPts val="1000"/>
              </a:spcBef>
              <a:spcAft>
                <a:spcPts val="0"/>
              </a:spcAft>
              <a:buSzPts val="1800"/>
              <a:buChar char="•"/>
            </a:pPr>
            <a:r>
              <a:rPr lang="en-GB"/>
              <a:t>The </a:t>
            </a:r>
            <a:r>
              <a:rPr lang="en-GB" b="1"/>
              <a:t>winning model</a:t>
            </a:r>
            <a:r>
              <a:rPr lang="en-GB"/>
              <a:t> will be implemented in the </a:t>
            </a:r>
            <a:r>
              <a:rPr lang="en-GB" b="1"/>
              <a:t>Bristol NHS</a:t>
            </a:r>
            <a:r>
              <a:rPr lang="en-GB"/>
              <a:t> system to provide early warnings and support </a:t>
            </a:r>
            <a:r>
              <a:rPr lang="en-GB" b="1"/>
              <a:t>pre-emptive management action</a:t>
            </a:r>
            <a:r>
              <a:rPr lang="en-GB"/>
              <a:t>.</a:t>
            </a:r>
            <a:endParaRPr/>
          </a:p>
          <a:p>
            <a:pPr marL="457200" lvl="0" indent="-342900" algn="l" rtl="0">
              <a:lnSpc>
                <a:spcPct val="90000"/>
              </a:lnSpc>
              <a:spcBef>
                <a:spcPts val="1000"/>
              </a:spcBef>
              <a:spcAft>
                <a:spcPts val="0"/>
              </a:spcAft>
              <a:buSzPts val="1800"/>
              <a:buChar char="•"/>
            </a:pPr>
            <a:r>
              <a:rPr lang="en-GB"/>
              <a:t>All data used are </a:t>
            </a:r>
            <a:r>
              <a:rPr lang="en-GB" b="1"/>
              <a:t>real-world hospital data</a:t>
            </a:r>
            <a:r>
              <a:rPr lang="en-GB"/>
              <a:t>.</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a:t>Contest Rules</a:t>
            </a:r>
            <a:endParaRPr/>
          </a:p>
        </p:txBody>
      </p:sp>
      <p:sp>
        <p:nvSpPr>
          <p:cNvPr id="173" name="Google Shape;173;p22"/>
          <p:cNvSpPr txBox="1">
            <a:spLocks noGrp="1"/>
          </p:cNvSpPr>
          <p:nvPr>
            <p:ph type="body" idx="1"/>
          </p:nvPr>
        </p:nvSpPr>
        <p:spPr>
          <a:xfrm>
            <a:off x="838200" y="1825625"/>
            <a:ext cx="5605558" cy="4351338"/>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1000"/>
              </a:spcBef>
              <a:spcAft>
                <a:spcPts val="0"/>
              </a:spcAft>
              <a:buSzPts val="1800"/>
              <a:buFont typeface="Arial"/>
              <a:buChar char="•"/>
            </a:pPr>
            <a:r>
              <a:rPr lang="en-GB" sz="1800" b="0" i="0" dirty="0">
                <a:solidFill>
                  <a:schemeClr val="dk1"/>
                </a:solidFill>
                <a:latin typeface="Arial"/>
                <a:ea typeface="Arial"/>
                <a:cs typeface="Arial"/>
                <a:sym typeface="Arial"/>
              </a:rPr>
              <a:t>The algorithm must be coded in either R or Python.</a:t>
            </a:r>
            <a:endParaRPr dirty="0"/>
          </a:p>
          <a:p>
            <a:pPr marL="457200" lvl="0" indent="-342900" algn="l" rtl="0">
              <a:lnSpc>
                <a:spcPct val="90000"/>
              </a:lnSpc>
              <a:spcBef>
                <a:spcPts val="2200"/>
              </a:spcBef>
              <a:spcAft>
                <a:spcPts val="0"/>
              </a:spcAft>
              <a:buSzPts val="1800"/>
              <a:buFont typeface="Arial"/>
              <a:buChar char="•"/>
            </a:pPr>
            <a:r>
              <a:rPr lang="en-GB" sz="1800" b="0" i="0" dirty="0">
                <a:solidFill>
                  <a:schemeClr val="dk1"/>
                </a:solidFill>
                <a:latin typeface="Arial"/>
                <a:ea typeface="Arial"/>
                <a:cs typeface="Arial"/>
                <a:sym typeface="Arial"/>
              </a:rPr>
              <a:t>The computational running time to produce one set of 10-day forecasts must be under one hour on a standard desktop computer.</a:t>
            </a:r>
            <a:endParaRPr dirty="0"/>
          </a:p>
          <a:p>
            <a:pPr marL="457200" lvl="0" indent="-342900" algn="l" rtl="0">
              <a:lnSpc>
                <a:spcPct val="90000"/>
              </a:lnSpc>
              <a:spcBef>
                <a:spcPts val="2200"/>
              </a:spcBef>
              <a:spcAft>
                <a:spcPts val="0"/>
              </a:spcAft>
              <a:buSzPts val="1800"/>
              <a:buFont typeface="Arial"/>
              <a:buChar char="•"/>
            </a:pPr>
            <a:r>
              <a:rPr lang="en-GB" sz="1800" b="0" i="0" dirty="0">
                <a:solidFill>
                  <a:schemeClr val="dk1"/>
                </a:solidFill>
                <a:latin typeface="Arial"/>
                <a:ea typeface="Arial"/>
                <a:cs typeface="Arial"/>
                <a:sym typeface="Arial"/>
              </a:rPr>
              <a:t>All entries must be loaded into a public </a:t>
            </a:r>
            <a:r>
              <a:rPr lang="en-GB" sz="1800" b="0" i="0" dirty="0" err="1">
                <a:solidFill>
                  <a:schemeClr val="dk1"/>
                </a:solidFill>
                <a:latin typeface="Arial"/>
                <a:ea typeface="Arial"/>
                <a:cs typeface="Arial"/>
                <a:sym typeface="Arial"/>
              </a:rPr>
              <a:t>Github</a:t>
            </a:r>
            <a:r>
              <a:rPr lang="en-GB" sz="1800" b="0" i="0" dirty="0">
                <a:solidFill>
                  <a:schemeClr val="dk1"/>
                </a:solidFill>
                <a:latin typeface="Arial"/>
                <a:ea typeface="Arial"/>
                <a:cs typeface="Arial"/>
                <a:sym typeface="Arial"/>
              </a:rPr>
              <a:t> repo.</a:t>
            </a:r>
            <a:endParaRPr dirty="0"/>
          </a:p>
          <a:p>
            <a:pPr marL="457200" lvl="0" indent="-342900" algn="l" rtl="0">
              <a:lnSpc>
                <a:spcPct val="90000"/>
              </a:lnSpc>
              <a:spcBef>
                <a:spcPts val="2200"/>
              </a:spcBef>
              <a:spcAft>
                <a:spcPts val="0"/>
              </a:spcAft>
              <a:buSzPts val="1800"/>
              <a:buFont typeface="Arial"/>
              <a:buChar char="•"/>
            </a:pPr>
            <a:r>
              <a:rPr lang="en-GB" sz="1800" b="0" i="0" dirty="0">
                <a:solidFill>
                  <a:schemeClr val="dk1"/>
                </a:solidFill>
                <a:latin typeface="Arial"/>
                <a:ea typeface="Arial"/>
                <a:cs typeface="Arial"/>
                <a:sym typeface="Arial"/>
              </a:rPr>
              <a:t>All entries must include a max 1000 word report to accompany the forecast analyses. This can be as a separate PDF/</a:t>
            </a:r>
            <a:r>
              <a:rPr lang="en-GB" sz="1800" b="0" i="0" dirty="0" err="1">
                <a:solidFill>
                  <a:schemeClr val="dk1"/>
                </a:solidFill>
                <a:latin typeface="Arial"/>
                <a:ea typeface="Arial"/>
                <a:cs typeface="Arial"/>
                <a:sym typeface="Arial"/>
              </a:rPr>
              <a:t>hmtl</a:t>
            </a:r>
            <a:r>
              <a:rPr lang="en-GB" sz="1800" b="0" i="0" dirty="0">
                <a:solidFill>
                  <a:schemeClr val="dk1"/>
                </a:solidFill>
                <a:latin typeface="Arial"/>
                <a:ea typeface="Arial"/>
                <a:cs typeface="Arial"/>
                <a:sym typeface="Arial"/>
              </a:rPr>
              <a:t> or incorporated into a quarto/</a:t>
            </a:r>
            <a:r>
              <a:rPr lang="en-GB" sz="1800" b="0" i="0" dirty="0" err="1">
                <a:solidFill>
                  <a:schemeClr val="dk1"/>
                </a:solidFill>
                <a:latin typeface="Arial"/>
                <a:ea typeface="Arial"/>
                <a:cs typeface="Arial"/>
                <a:sym typeface="Arial"/>
              </a:rPr>
              <a:t>jupyter</a:t>
            </a:r>
            <a:r>
              <a:rPr lang="en-GB" sz="1800" b="0" i="0" dirty="0">
                <a:solidFill>
                  <a:schemeClr val="dk1"/>
                </a:solidFill>
                <a:latin typeface="Arial"/>
                <a:ea typeface="Arial"/>
                <a:cs typeface="Arial"/>
                <a:sym typeface="Arial"/>
              </a:rPr>
              <a:t> notebook.</a:t>
            </a:r>
            <a:endParaRPr dirty="0"/>
          </a:p>
          <a:p>
            <a:pPr marL="228600" lvl="1" indent="0" algn="l" rtl="0">
              <a:lnSpc>
                <a:spcPct val="90000"/>
              </a:lnSpc>
              <a:spcBef>
                <a:spcPts val="1700"/>
              </a:spcBef>
              <a:spcAft>
                <a:spcPts val="0"/>
              </a:spcAft>
              <a:buSzPts val="2400"/>
              <a:buNone/>
            </a:pPr>
            <a:endParaRPr b="0" i="0" dirty="0"/>
          </a:p>
          <a:p>
            <a:pPr marL="228600" lvl="0" indent="-50800" algn="l" rtl="0">
              <a:lnSpc>
                <a:spcPct val="90000"/>
              </a:lnSpc>
              <a:spcBef>
                <a:spcPts val="1000"/>
              </a:spcBef>
              <a:spcAft>
                <a:spcPts val="0"/>
              </a:spcAft>
              <a:buSzPts val="2800"/>
              <a:buNone/>
            </a:pPr>
            <a:endParaRPr dirty="0"/>
          </a:p>
        </p:txBody>
      </p:sp>
      <p:pic>
        <p:nvPicPr>
          <p:cNvPr id="174" name="Google Shape;174;p22"/>
          <p:cNvPicPr preferRelativeResize="0"/>
          <p:nvPr/>
        </p:nvPicPr>
        <p:blipFill>
          <a:blip r:embed="rId3">
            <a:alphaModFix/>
          </a:blip>
          <a:stretch>
            <a:fillRect/>
          </a:stretch>
        </p:blipFill>
        <p:spPr>
          <a:xfrm>
            <a:off x="8040977" y="1009450"/>
            <a:ext cx="2931595" cy="2271975"/>
          </a:xfrm>
          <a:prstGeom prst="rect">
            <a:avLst/>
          </a:prstGeom>
          <a:noFill/>
          <a:ln>
            <a:noFill/>
          </a:ln>
        </p:spPr>
      </p:pic>
      <p:pic>
        <p:nvPicPr>
          <p:cNvPr id="175" name="Google Shape;175;p22"/>
          <p:cNvPicPr preferRelativeResize="0"/>
          <p:nvPr/>
        </p:nvPicPr>
        <p:blipFill>
          <a:blip r:embed="rId4">
            <a:alphaModFix/>
          </a:blip>
          <a:stretch>
            <a:fillRect/>
          </a:stretch>
        </p:blipFill>
        <p:spPr>
          <a:xfrm>
            <a:off x="8370789" y="3676400"/>
            <a:ext cx="2271974" cy="227197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a:t>Contest Winners</a:t>
            </a:r>
            <a:endParaRPr/>
          </a:p>
        </p:txBody>
      </p:sp>
      <p:sp>
        <p:nvSpPr>
          <p:cNvPr id="181" name="Google Shape;181;p23"/>
          <p:cNvSpPr txBox="1"/>
          <p:nvPr/>
        </p:nvSpPr>
        <p:spPr>
          <a:xfrm>
            <a:off x="7795544" y="2272706"/>
            <a:ext cx="3309991" cy="359881"/>
          </a:xfrm>
          <a:prstGeom prst="rect">
            <a:avLst/>
          </a:prstGeom>
          <a:noFill/>
          <a:ln>
            <a:noFill/>
          </a:ln>
        </p:spPr>
        <p:txBody>
          <a:bodyPr spcFirstLastPara="1" wrap="square" lIns="91425" tIns="45700" rIns="91425" bIns="45700" anchor="t" anchorCtr="0">
            <a:normAutofit fontScale="85000" lnSpcReduction="20000"/>
          </a:bodyPr>
          <a:lstStyle/>
          <a:p>
            <a:pPr marL="228600" marR="0" lvl="0" indent="-90804" algn="l" rtl="0">
              <a:lnSpc>
                <a:spcPct val="90000"/>
              </a:lnSpc>
              <a:spcBef>
                <a:spcPts val="0"/>
              </a:spcBef>
              <a:spcAft>
                <a:spcPts val="0"/>
              </a:spcAft>
              <a:buClr>
                <a:srgbClr val="004D9E"/>
              </a:buClr>
              <a:buSzPct val="100000"/>
              <a:buFont typeface="Arial"/>
              <a:buNone/>
            </a:pPr>
            <a:endParaRPr sz="2800" b="0" i="0" u="none" strike="noStrike" cap="none">
              <a:solidFill>
                <a:schemeClr val="dk1"/>
              </a:solidFill>
              <a:latin typeface="Arial"/>
              <a:ea typeface="Arial"/>
              <a:cs typeface="Arial"/>
              <a:sym typeface="Arial"/>
            </a:endParaRPr>
          </a:p>
        </p:txBody>
      </p:sp>
      <p:sp>
        <p:nvSpPr>
          <p:cNvPr id="182" name="Google Shape;182;p23"/>
          <p:cNvSpPr txBox="1"/>
          <p:nvPr/>
        </p:nvSpPr>
        <p:spPr>
          <a:xfrm>
            <a:off x="1196462" y="2289579"/>
            <a:ext cx="3601065" cy="537747"/>
          </a:xfrm>
          <a:prstGeom prst="rect">
            <a:avLst/>
          </a:prstGeom>
          <a:noFill/>
          <a:ln>
            <a:noFill/>
          </a:ln>
        </p:spPr>
        <p:txBody>
          <a:bodyPr spcFirstLastPara="1" wrap="square" lIns="91425" tIns="45700" rIns="91425" bIns="45700" anchor="t" anchorCtr="0">
            <a:normAutofit/>
          </a:bodyPr>
          <a:lstStyle/>
          <a:p>
            <a:pPr marL="228600" marR="0" lvl="0" indent="-50800" algn="l" rtl="0">
              <a:lnSpc>
                <a:spcPct val="90000"/>
              </a:lnSpc>
              <a:spcBef>
                <a:spcPts val="0"/>
              </a:spcBef>
              <a:spcAft>
                <a:spcPts val="0"/>
              </a:spcAft>
              <a:buClr>
                <a:srgbClr val="004D9E"/>
              </a:buClr>
              <a:buSzPts val="2800"/>
              <a:buFont typeface="Arial"/>
              <a:buNone/>
            </a:pPr>
            <a:endParaRPr sz="2800" b="1" i="1" u="none" strike="noStrike" cap="none">
              <a:solidFill>
                <a:srgbClr val="FFC000"/>
              </a:solidFill>
              <a:latin typeface="Arial"/>
              <a:ea typeface="Arial"/>
              <a:cs typeface="Arial"/>
              <a:sym typeface="Arial"/>
            </a:endParaRPr>
          </a:p>
          <a:p>
            <a:pPr marL="514350" marR="0" lvl="0" indent="-336550" algn="l" rtl="0">
              <a:lnSpc>
                <a:spcPct val="90000"/>
              </a:lnSpc>
              <a:spcBef>
                <a:spcPts val="1000"/>
              </a:spcBef>
              <a:spcAft>
                <a:spcPts val="0"/>
              </a:spcAft>
              <a:buClr>
                <a:srgbClr val="004D9E"/>
              </a:buClr>
              <a:buSzPts val="2800"/>
              <a:buFont typeface="Arial"/>
              <a:buNone/>
            </a:pPr>
            <a:endParaRPr sz="2800" b="0" i="0" u="none" strike="noStrike" cap="none">
              <a:solidFill>
                <a:srgbClr val="FFC000"/>
              </a:solidFill>
              <a:latin typeface="Arial"/>
              <a:ea typeface="Arial"/>
              <a:cs typeface="Arial"/>
              <a:sym typeface="Arial"/>
            </a:endParaRPr>
          </a:p>
          <a:p>
            <a:pPr marL="228600" marR="0" lvl="0" indent="-50800" algn="l" rtl="0">
              <a:lnSpc>
                <a:spcPct val="90000"/>
              </a:lnSpc>
              <a:spcBef>
                <a:spcPts val="1000"/>
              </a:spcBef>
              <a:spcAft>
                <a:spcPts val="0"/>
              </a:spcAft>
              <a:buClr>
                <a:srgbClr val="004D9E"/>
              </a:buClr>
              <a:buSzPts val="2800"/>
              <a:buFont typeface="Arial"/>
              <a:buNone/>
            </a:pPr>
            <a:endParaRPr sz="2800" b="0" i="0" u="none" strike="noStrike" cap="none">
              <a:solidFill>
                <a:schemeClr val="dk1"/>
              </a:solidFill>
              <a:latin typeface="Arial"/>
              <a:ea typeface="Arial"/>
              <a:cs typeface="Arial"/>
              <a:sym typeface="Arial"/>
            </a:endParaRPr>
          </a:p>
        </p:txBody>
      </p:sp>
      <p:sp>
        <p:nvSpPr>
          <p:cNvPr id="183" name="Google Shape;183;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fontScale="92500" lnSpcReduction="10000"/>
          </a:bodyPr>
          <a:lstStyle/>
          <a:p>
            <a:pPr marL="0" lvl="0" indent="0" algn="l" rtl="0">
              <a:lnSpc>
                <a:spcPct val="100000"/>
              </a:lnSpc>
              <a:spcBef>
                <a:spcPts val="0"/>
              </a:spcBef>
              <a:spcAft>
                <a:spcPts val="0"/>
              </a:spcAft>
              <a:buSzPct val="108108"/>
              <a:buNone/>
            </a:pPr>
            <a:r>
              <a:rPr lang="en-GB" sz="2400" dirty="0">
                <a:solidFill>
                  <a:schemeClr val="dk1"/>
                </a:solidFill>
              </a:rPr>
              <a:t>Awards will be given across two categories:</a:t>
            </a:r>
            <a:endParaRPr dirty="0"/>
          </a:p>
          <a:p>
            <a:pPr marL="0" lvl="0" indent="0" algn="l" rtl="0">
              <a:lnSpc>
                <a:spcPct val="100000"/>
              </a:lnSpc>
              <a:spcBef>
                <a:spcPts val="0"/>
              </a:spcBef>
              <a:spcAft>
                <a:spcPts val="0"/>
              </a:spcAft>
              <a:buSzPct val="108108"/>
              <a:buNone/>
            </a:pPr>
            <a:endParaRPr sz="2400" dirty="0">
              <a:solidFill>
                <a:schemeClr val="dk1"/>
              </a:solidFill>
            </a:endParaRPr>
          </a:p>
          <a:p>
            <a:pPr marL="0" lvl="0" indent="0" algn="l" rtl="0">
              <a:lnSpc>
                <a:spcPct val="100000"/>
              </a:lnSpc>
              <a:spcBef>
                <a:spcPts val="0"/>
              </a:spcBef>
              <a:spcAft>
                <a:spcPts val="0"/>
              </a:spcAft>
              <a:buSzPct val="108108"/>
              <a:buNone/>
            </a:pPr>
            <a:r>
              <a:rPr lang="en-GB" sz="2400" dirty="0">
                <a:solidFill>
                  <a:schemeClr val="dk1"/>
                </a:solidFill>
              </a:rPr>
              <a:t>1. One prize will be given for the lowest MSE_1to5d. </a:t>
            </a:r>
            <a:endParaRPr dirty="0"/>
          </a:p>
          <a:p>
            <a:pPr marL="0" lvl="0" indent="0" algn="l" rtl="0">
              <a:lnSpc>
                <a:spcPct val="100000"/>
              </a:lnSpc>
              <a:spcBef>
                <a:spcPts val="0"/>
              </a:spcBef>
              <a:spcAft>
                <a:spcPts val="0"/>
              </a:spcAft>
              <a:buSzPct val="108108"/>
              <a:buNone/>
            </a:pPr>
            <a:endParaRPr sz="2400" dirty="0">
              <a:solidFill>
                <a:schemeClr val="dk1"/>
              </a:solidFill>
            </a:endParaRPr>
          </a:p>
          <a:p>
            <a:pPr marL="0" lvl="0" indent="0" algn="l" rtl="0">
              <a:lnSpc>
                <a:spcPct val="100000"/>
              </a:lnSpc>
              <a:spcBef>
                <a:spcPts val="0"/>
              </a:spcBef>
              <a:spcAft>
                <a:spcPts val="0"/>
              </a:spcAft>
              <a:buSzPct val="108108"/>
              <a:buNone/>
            </a:pPr>
            <a:r>
              <a:rPr lang="en-GB" sz="2400" dirty="0">
                <a:solidFill>
                  <a:schemeClr val="dk1"/>
                </a:solidFill>
              </a:rPr>
              <a:t>2. One prize will be given for the lowest MSE_6to10d.</a:t>
            </a:r>
            <a:endParaRPr dirty="0"/>
          </a:p>
          <a:p>
            <a:pPr marL="0" lvl="0" indent="0" algn="l" rtl="0">
              <a:lnSpc>
                <a:spcPct val="100000"/>
              </a:lnSpc>
              <a:spcBef>
                <a:spcPts val="0"/>
              </a:spcBef>
              <a:spcAft>
                <a:spcPts val="0"/>
              </a:spcAft>
              <a:buSzPct val="108108"/>
              <a:buNone/>
            </a:pPr>
            <a:endParaRPr sz="2400" dirty="0">
              <a:solidFill>
                <a:schemeClr val="dk1"/>
              </a:solidFill>
            </a:endParaRPr>
          </a:p>
          <a:p>
            <a:pPr marL="0" lvl="0" indent="0" algn="l" rtl="0">
              <a:lnSpc>
                <a:spcPct val="100000"/>
              </a:lnSpc>
              <a:spcBef>
                <a:spcPts val="0"/>
              </a:spcBef>
              <a:spcAft>
                <a:spcPts val="0"/>
              </a:spcAft>
              <a:buSzPct val="108108"/>
              <a:buNone/>
            </a:pPr>
            <a:r>
              <a:rPr lang="en-GB" sz="2400" dirty="0">
                <a:solidFill>
                  <a:schemeClr val="dk1"/>
                </a:solidFill>
              </a:rPr>
              <a:t>All winning teams will be assessed by the competition authors to ensure that the reported MSEs can be replicated with the submitted models, and to check all above restrictions are satisfied.</a:t>
            </a:r>
            <a:endParaRPr dirty="0"/>
          </a:p>
          <a:p>
            <a:pPr marL="0" lvl="0" indent="0" algn="l" rtl="0">
              <a:lnSpc>
                <a:spcPct val="100000"/>
              </a:lnSpc>
              <a:spcBef>
                <a:spcPts val="0"/>
              </a:spcBef>
              <a:spcAft>
                <a:spcPts val="0"/>
              </a:spcAft>
              <a:buSzPct val="108108"/>
              <a:buNone/>
            </a:pPr>
            <a:endParaRPr sz="2400" dirty="0">
              <a:solidFill>
                <a:schemeClr val="dk1"/>
              </a:solidFill>
            </a:endParaRPr>
          </a:p>
          <a:p>
            <a:pPr marL="0" lvl="0" indent="0" algn="l" rtl="0">
              <a:lnSpc>
                <a:spcPct val="100000"/>
              </a:lnSpc>
              <a:spcBef>
                <a:spcPts val="0"/>
              </a:spcBef>
              <a:spcAft>
                <a:spcPts val="0"/>
              </a:spcAft>
              <a:buSzPct val="108108"/>
              <a:buNone/>
            </a:pPr>
            <a:r>
              <a:rPr lang="en-GB" sz="2400" dirty="0">
                <a:solidFill>
                  <a:schemeClr val="dk1"/>
                </a:solidFill>
              </a:rPr>
              <a:t>The winners will be selected by the SPHERE-PPL Team and will be invited to present their forecasts at the next Annual Meeting, with travel covered by the project.</a:t>
            </a:r>
            <a:endParaRPr dirty="0"/>
          </a:p>
          <a:p>
            <a:pPr marL="0" lvl="0" indent="0" algn="l" rtl="0">
              <a:lnSpc>
                <a:spcPct val="90000"/>
              </a:lnSpc>
              <a:spcBef>
                <a:spcPts val="2200"/>
              </a:spcBef>
              <a:spcAft>
                <a:spcPts val="0"/>
              </a:spcAft>
              <a:buSzPct val="108108"/>
              <a:buNone/>
            </a:pPr>
            <a:endParaRPr dirty="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4"/>
          <p:cNvSpPr/>
          <p:nvPr/>
        </p:nvSpPr>
        <p:spPr>
          <a:xfrm>
            <a:off x="838200" y="5075339"/>
            <a:ext cx="3785616" cy="802969"/>
          </a:xfrm>
          <a:prstGeom prst="roundRect">
            <a:avLst>
              <a:gd name="adj" fmla="val 16667"/>
            </a:avLst>
          </a:prstGeom>
          <a:solidFill>
            <a:schemeClr val="accent1"/>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9" name="Google Shape;189;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a:t>Contest Timeline</a:t>
            </a:r>
            <a:endParaRPr/>
          </a:p>
        </p:txBody>
      </p:sp>
      <p:grpSp>
        <p:nvGrpSpPr>
          <p:cNvPr id="190" name="Google Shape;190;p24"/>
          <p:cNvGrpSpPr/>
          <p:nvPr/>
        </p:nvGrpSpPr>
        <p:grpSpPr>
          <a:xfrm>
            <a:off x="838200" y="1743018"/>
            <a:ext cx="10515599" cy="3332321"/>
            <a:chOff x="0" y="2177"/>
            <a:chExt cx="10515599" cy="4346982"/>
          </a:xfrm>
        </p:grpSpPr>
        <p:sp>
          <p:nvSpPr>
            <p:cNvPr id="191" name="Google Shape;191;p24"/>
            <p:cNvSpPr/>
            <p:nvPr/>
          </p:nvSpPr>
          <p:spPr>
            <a:xfrm rot="5400000">
              <a:off x="6731621" y="-2839081"/>
              <a:ext cx="837972" cy="6729984"/>
            </a:xfrm>
            <a:prstGeom prst="round2SameRect">
              <a:avLst>
                <a:gd name="adj1" fmla="val 16667"/>
                <a:gd name="adj2" fmla="val 0"/>
              </a:avLst>
            </a:prstGeom>
            <a:solidFill>
              <a:srgbClr val="FEE3C8">
                <a:alpha val="89803"/>
              </a:srgbClr>
            </a:solidFill>
            <a:ln w="19050" cap="flat" cmpd="sng">
              <a:solidFill>
                <a:srgbClr val="FEE3C8">
                  <a:alpha val="89803"/>
                </a:srgbClr>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2" name="Google Shape;192;p24"/>
            <p:cNvSpPr txBox="1"/>
            <p:nvPr/>
          </p:nvSpPr>
          <p:spPr>
            <a:xfrm>
              <a:off x="3785615" y="147831"/>
              <a:ext cx="6689078" cy="756160"/>
            </a:xfrm>
            <a:prstGeom prst="rect">
              <a:avLst/>
            </a:prstGeom>
            <a:noFill/>
            <a:ln>
              <a:noFill/>
            </a:ln>
          </p:spPr>
          <p:txBody>
            <a:bodyPr spcFirstLastPara="1" wrap="square" lIns="87625" tIns="43800" rIns="87625" bIns="43800" anchor="ctr" anchorCtr="0">
              <a:noAutofit/>
            </a:bodyPr>
            <a:lstStyle/>
            <a:p>
              <a:pPr marL="228600" marR="0" lvl="1" indent="-228600" algn="l" rtl="0">
                <a:lnSpc>
                  <a:spcPct val="90000"/>
                </a:lnSpc>
                <a:spcBef>
                  <a:spcPts val="0"/>
                </a:spcBef>
                <a:spcAft>
                  <a:spcPts val="0"/>
                </a:spcAft>
                <a:buClr>
                  <a:schemeClr val="dk1"/>
                </a:buClr>
                <a:buSzPts val="2300"/>
                <a:buFont typeface="Arial"/>
                <a:buChar char="•"/>
              </a:pPr>
              <a:r>
                <a:rPr lang="en-GB" sz="2300" b="0" i="0" u="none" strike="noStrike" cap="none">
                  <a:solidFill>
                    <a:schemeClr val="dk1"/>
                  </a:solidFill>
                  <a:latin typeface="Arial"/>
                  <a:ea typeface="Arial"/>
                  <a:cs typeface="Arial"/>
                  <a:sym typeface="Arial"/>
                </a:rPr>
                <a:t>Competition launch, including the release of the development dataset. </a:t>
              </a:r>
              <a:endParaRPr sz="1400" b="0" i="0" u="none" strike="noStrike" cap="none">
                <a:solidFill>
                  <a:srgbClr val="000000"/>
                </a:solidFill>
                <a:latin typeface="Arial"/>
                <a:ea typeface="Arial"/>
                <a:cs typeface="Arial"/>
                <a:sym typeface="Arial"/>
              </a:endParaRPr>
            </a:p>
          </p:txBody>
        </p:sp>
        <p:sp>
          <p:nvSpPr>
            <p:cNvPr id="193" name="Google Shape;193;p24"/>
            <p:cNvSpPr/>
            <p:nvPr/>
          </p:nvSpPr>
          <p:spPr>
            <a:xfrm>
              <a:off x="0" y="2177"/>
              <a:ext cx="3785616" cy="1047465"/>
            </a:xfrm>
            <a:prstGeom prst="roundRect">
              <a:avLst>
                <a:gd name="adj" fmla="val 16667"/>
              </a:avLst>
            </a:prstGeom>
            <a:solidFill>
              <a:schemeClr val="accent2"/>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4" name="Google Shape;194;p24"/>
            <p:cNvSpPr txBox="1"/>
            <p:nvPr/>
          </p:nvSpPr>
          <p:spPr>
            <a:xfrm>
              <a:off x="51133" y="53310"/>
              <a:ext cx="3683350" cy="945199"/>
            </a:xfrm>
            <a:prstGeom prst="rect">
              <a:avLst/>
            </a:prstGeom>
            <a:noFill/>
            <a:ln>
              <a:noFill/>
            </a:ln>
          </p:spPr>
          <p:txBody>
            <a:bodyPr spcFirstLastPara="1" wrap="square" lIns="110475" tIns="55225" rIns="110475" bIns="55225" anchor="ctr" anchorCtr="0">
              <a:noAutofit/>
            </a:bodyPr>
            <a:lstStyle/>
            <a:p>
              <a:pPr marL="0" marR="0" lvl="0" indent="0" algn="ctr" rtl="0">
                <a:lnSpc>
                  <a:spcPct val="90000"/>
                </a:lnSpc>
                <a:spcBef>
                  <a:spcPts val="0"/>
                </a:spcBef>
                <a:spcAft>
                  <a:spcPts val="0"/>
                </a:spcAft>
                <a:buClr>
                  <a:schemeClr val="lt1"/>
                </a:buClr>
                <a:buSzPts val="2900"/>
                <a:buFont typeface="Arial"/>
                <a:buNone/>
              </a:pPr>
              <a:r>
                <a:rPr lang="en-GB" sz="2900">
                  <a:solidFill>
                    <a:schemeClr val="lt1"/>
                  </a:solidFill>
                </a:rPr>
                <a:t>5</a:t>
              </a:r>
              <a:r>
                <a:rPr lang="en-GB" sz="2900" b="0" i="0" u="none" strike="noStrike" cap="none" baseline="30000">
                  <a:solidFill>
                    <a:schemeClr val="lt1"/>
                  </a:solidFill>
                  <a:latin typeface="Arial"/>
                  <a:ea typeface="Arial"/>
                  <a:cs typeface="Arial"/>
                  <a:sym typeface="Arial"/>
                </a:rPr>
                <a:t>th</a:t>
              </a:r>
              <a:r>
                <a:rPr lang="en-GB" sz="2900" b="0" i="0" u="none" strike="noStrike" cap="none">
                  <a:solidFill>
                    <a:schemeClr val="lt1"/>
                  </a:solidFill>
                  <a:latin typeface="Arial"/>
                  <a:ea typeface="Arial"/>
                  <a:cs typeface="Arial"/>
                  <a:sym typeface="Arial"/>
                </a:rPr>
                <a:t> </a:t>
              </a:r>
              <a:r>
                <a:rPr lang="en-GB" sz="2900">
                  <a:solidFill>
                    <a:schemeClr val="lt1"/>
                  </a:solidFill>
                </a:rPr>
                <a:t>March</a:t>
              </a:r>
              <a:endParaRPr sz="1400" b="0" i="0" u="none" strike="noStrike" cap="none">
                <a:solidFill>
                  <a:srgbClr val="000000"/>
                </a:solidFill>
                <a:latin typeface="Arial"/>
                <a:ea typeface="Arial"/>
                <a:cs typeface="Arial"/>
                <a:sym typeface="Arial"/>
              </a:endParaRPr>
            </a:p>
          </p:txBody>
        </p:sp>
        <p:sp>
          <p:nvSpPr>
            <p:cNvPr id="195" name="Google Shape;195;p24"/>
            <p:cNvSpPr/>
            <p:nvPr/>
          </p:nvSpPr>
          <p:spPr>
            <a:xfrm rot="5400000">
              <a:off x="6731621" y="-1739242"/>
              <a:ext cx="837972" cy="6729984"/>
            </a:xfrm>
            <a:prstGeom prst="round2SameRect">
              <a:avLst>
                <a:gd name="adj1" fmla="val 16667"/>
                <a:gd name="adj2" fmla="val 0"/>
              </a:avLst>
            </a:prstGeom>
            <a:solidFill>
              <a:srgbClr val="CAE7D2">
                <a:alpha val="89803"/>
              </a:srgbClr>
            </a:solidFill>
            <a:ln w="19050" cap="flat" cmpd="sng">
              <a:solidFill>
                <a:srgbClr val="CAE7D2">
                  <a:alpha val="89803"/>
                </a:srgbClr>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6" name="Google Shape;196;p24"/>
            <p:cNvSpPr txBox="1"/>
            <p:nvPr/>
          </p:nvSpPr>
          <p:spPr>
            <a:xfrm>
              <a:off x="3785615" y="1247670"/>
              <a:ext cx="6689078" cy="756160"/>
            </a:xfrm>
            <a:prstGeom prst="rect">
              <a:avLst/>
            </a:prstGeom>
            <a:noFill/>
            <a:ln>
              <a:noFill/>
            </a:ln>
          </p:spPr>
          <p:txBody>
            <a:bodyPr spcFirstLastPara="1" wrap="square" lIns="87625" tIns="43800" rIns="87625" bIns="43800" anchor="ctr" anchorCtr="0">
              <a:noAutofit/>
            </a:bodyPr>
            <a:lstStyle/>
            <a:p>
              <a:pPr marL="228600" marR="0" lvl="1" indent="-228600" algn="l" rtl="0">
                <a:lnSpc>
                  <a:spcPct val="90000"/>
                </a:lnSpc>
                <a:spcBef>
                  <a:spcPts val="0"/>
                </a:spcBef>
                <a:spcAft>
                  <a:spcPts val="0"/>
                </a:spcAft>
                <a:buClr>
                  <a:schemeClr val="dk1"/>
                </a:buClr>
                <a:buSzPts val="2300"/>
                <a:buFont typeface="Arial"/>
                <a:buChar char="•"/>
              </a:pPr>
              <a:r>
                <a:rPr lang="en-GB" sz="2300" b="0" i="0" u="none" strike="noStrike" cap="none">
                  <a:solidFill>
                    <a:srgbClr val="000000"/>
                  </a:solidFill>
                  <a:latin typeface="Arial"/>
                  <a:ea typeface="Arial"/>
                  <a:cs typeface="Arial"/>
                  <a:sym typeface="Arial"/>
                </a:rPr>
                <a:t>Deadline for competitors to submit their final algorithms </a:t>
              </a:r>
              <a:endParaRPr sz="2300" b="0" i="0" u="none" strike="noStrike" cap="none">
                <a:solidFill>
                  <a:srgbClr val="000000"/>
                </a:solidFill>
                <a:latin typeface="Arial"/>
                <a:ea typeface="Arial"/>
                <a:cs typeface="Arial"/>
                <a:sym typeface="Arial"/>
              </a:endParaRPr>
            </a:p>
          </p:txBody>
        </p:sp>
        <p:sp>
          <p:nvSpPr>
            <p:cNvPr id="197" name="Google Shape;197;p24"/>
            <p:cNvSpPr/>
            <p:nvPr/>
          </p:nvSpPr>
          <p:spPr>
            <a:xfrm>
              <a:off x="0" y="1102016"/>
              <a:ext cx="3785616" cy="1047465"/>
            </a:xfrm>
            <a:prstGeom prst="roundRect">
              <a:avLst>
                <a:gd name="adj" fmla="val 16667"/>
              </a:avLst>
            </a:prstGeom>
            <a:solidFill>
              <a:srgbClr val="00BB61"/>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8" name="Google Shape;198;p24"/>
            <p:cNvSpPr txBox="1"/>
            <p:nvPr/>
          </p:nvSpPr>
          <p:spPr>
            <a:xfrm>
              <a:off x="51133" y="1153149"/>
              <a:ext cx="3683350" cy="945199"/>
            </a:xfrm>
            <a:prstGeom prst="rect">
              <a:avLst/>
            </a:prstGeom>
            <a:noFill/>
            <a:ln>
              <a:noFill/>
            </a:ln>
          </p:spPr>
          <p:txBody>
            <a:bodyPr spcFirstLastPara="1" wrap="square" lIns="110475" tIns="55225" rIns="110475" bIns="55225" anchor="ctr" anchorCtr="0">
              <a:noAutofit/>
            </a:bodyPr>
            <a:lstStyle/>
            <a:p>
              <a:pPr marL="0" marR="0" lvl="0" indent="0" algn="ctr" rtl="0">
                <a:lnSpc>
                  <a:spcPct val="90000"/>
                </a:lnSpc>
                <a:spcBef>
                  <a:spcPts val="0"/>
                </a:spcBef>
                <a:spcAft>
                  <a:spcPts val="0"/>
                </a:spcAft>
                <a:buClr>
                  <a:schemeClr val="lt1"/>
                </a:buClr>
                <a:buSzPts val="2900"/>
                <a:buFont typeface="Arial"/>
                <a:buNone/>
              </a:pPr>
              <a:r>
                <a:rPr lang="en-GB" sz="2900" b="0" i="0" u="none" strike="noStrike" cap="none">
                  <a:solidFill>
                    <a:schemeClr val="lt1"/>
                  </a:solidFill>
                  <a:latin typeface="Arial"/>
                  <a:ea typeface="Arial"/>
                  <a:cs typeface="Arial"/>
                  <a:sym typeface="Arial"/>
                </a:rPr>
                <a:t>5</a:t>
              </a:r>
              <a:r>
                <a:rPr lang="en-GB" sz="2900" b="0" i="0" u="none" strike="noStrike" cap="none" baseline="30000">
                  <a:solidFill>
                    <a:schemeClr val="lt1"/>
                  </a:solidFill>
                  <a:latin typeface="Arial"/>
                  <a:ea typeface="Arial"/>
                  <a:cs typeface="Arial"/>
                  <a:sym typeface="Arial"/>
                </a:rPr>
                <a:t>th</a:t>
              </a:r>
              <a:r>
                <a:rPr lang="en-GB" sz="2900" b="0" i="0" u="none" strike="noStrike" cap="none">
                  <a:solidFill>
                    <a:schemeClr val="lt1"/>
                  </a:solidFill>
                  <a:latin typeface="Arial"/>
                  <a:ea typeface="Arial"/>
                  <a:cs typeface="Arial"/>
                  <a:sym typeface="Arial"/>
                </a:rPr>
                <a:t> </a:t>
              </a:r>
              <a:r>
                <a:rPr lang="en-GB" sz="2900">
                  <a:solidFill>
                    <a:schemeClr val="lt1"/>
                  </a:solidFill>
                </a:rPr>
                <a:t>June</a:t>
              </a:r>
              <a:r>
                <a:rPr lang="en-GB" sz="2900" b="0" i="0" u="none" strike="noStrike" cap="none">
                  <a:solidFill>
                    <a:schemeClr val="lt1"/>
                  </a:solidFill>
                  <a:latin typeface="Arial"/>
                  <a:ea typeface="Arial"/>
                  <a:cs typeface="Arial"/>
                  <a:sym typeface="Arial"/>
                </a:rPr>
                <a:t> 2026</a:t>
              </a:r>
              <a:endParaRPr sz="1400" b="0" i="0" u="none" strike="noStrike" cap="none">
                <a:solidFill>
                  <a:srgbClr val="000000"/>
                </a:solidFill>
                <a:latin typeface="Arial"/>
                <a:ea typeface="Arial"/>
                <a:cs typeface="Arial"/>
                <a:sym typeface="Arial"/>
              </a:endParaRPr>
            </a:p>
          </p:txBody>
        </p:sp>
        <p:sp>
          <p:nvSpPr>
            <p:cNvPr id="199" name="Google Shape;199;p24"/>
            <p:cNvSpPr/>
            <p:nvPr/>
          </p:nvSpPr>
          <p:spPr>
            <a:xfrm rot="5400000">
              <a:off x="6731621" y="-639403"/>
              <a:ext cx="837972" cy="6729984"/>
            </a:xfrm>
            <a:prstGeom prst="round2SameRect">
              <a:avLst>
                <a:gd name="adj1" fmla="val 16667"/>
                <a:gd name="adj2" fmla="val 0"/>
              </a:avLst>
            </a:prstGeom>
            <a:solidFill>
              <a:srgbClr val="CACFDE">
                <a:alpha val="89803"/>
              </a:srgbClr>
            </a:solidFill>
            <a:ln w="19050" cap="flat" cmpd="sng">
              <a:solidFill>
                <a:srgbClr val="CACFDE">
                  <a:alpha val="89803"/>
                </a:srgbClr>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0" name="Google Shape;200;p24"/>
            <p:cNvSpPr txBox="1"/>
            <p:nvPr/>
          </p:nvSpPr>
          <p:spPr>
            <a:xfrm>
              <a:off x="3785615" y="2347509"/>
              <a:ext cx="6689078" cy="756160"/>
            </a:xfrm>
            <a:prstGeom prst="rect">
              <a:avLst/>
            </a:prstGeom>
            <a:noFill/>
            <a:ln>
              <a:noFill/>
            </a:ln>
          </p:spPr>
          <p:txBody>
            <a:bodyPr spcFirstLastPara="1" wrap="square" lIns="87625" tIns="43800" rIns="87625" bIns="43800" anchor="ctr" anchorCtr="0">
              <a:noAutofit/>
            </a:bodyPr>
            <a:lstStyle/>
            <a:p>
              <a:pPr marL="228600" marR="0" lvl="1" indent="-228600" algn="l" rtl="0">
                <a:lnSpc>
                  <a:spcPct val="90000"/>
                </a:lnSpc>
                <a:spcBef>
                  <a:spcPts val="0"/>
                </a:spcBef>
                <a:spcAft>
                  <a:spcPts val="0"/>
                </a:spcAft>
                <a:buClr>
                  <a:schemeClr val="dk1"/>
                </a:buClr>
                <a:buSzPts val="2300"/>
                <a:buFont typeface="Arial"/>
                <a:buChar char="•"/>
              </a:pPr>
              <a:r>
                <a:rPr lang="en-GB" sz="2300" b="0" i="0" u="none" strike="noStrike" cap="none">
                  <a:solidFill>
                    <a:schemeClr val="dk1"/>
                  </a:solidFill>
                  <a:latin typeface="Arial"/>
                  <a:ea typeface="Arial"/>
                  <a:cs typeface="Arial"/>
                  <a:sym typeface="Arial"/>
                </a:rPr>
                <a:t>The assessment dataset is released </a:t>
              </a:r>
              <a:endParaRPr sz="1400" b="0" i="0" u="none" strike="noStrike" cap="none">
                <a:solidFill>
                  <a:srgbClr val="000000"/>
                </a:solidFill>
                <a:latin typeface="Arial"/>
                <a:ea typeface="Arial"/>
                <a:cs typeface="Arial"/>
                <a:sym typeface="Arial"/>
              </a:endParaRPr>
            </a:p>
          </p:txBody>
        </p:sp>
        <p:sp>
          <p:nvSpPr>
            <p:cNvPr id="201" name="Google Shape;201;p24"/>
            <p:cNvSpPr/>
            <p:nvPr/>
          </p:nvSpPr>
          <p:spPr>
            <a:xfrm>
              <a:off x="0" y="2201855"/>
              <a:ext cx="3785616" cy="1047465"/>
            </a:xfrm>
            <a:prstGeom prst="roundRect">
              <a:avLst>
                <a:gd name="adj" fmla="val 16667"/>
              </a:avLst>
            </a:prstGeom>
            <a:solidFill>
              <a:schemeClr val="accent4"/>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2" name="Google Shape;202;p24"/>
            <p:cNvSpPr txBox="1"/>
            <p:nvPr/>
          </p:nvSpPr>
          <p:spPr>
            <a:xfrm>
              <a:off x="51133" y="2252988"/>
              <a:ext cx="3683350" cy="945199"/>
            </a:xfrm>
            <a:prstGeom prst="rect">
              <a:avLst/>
            </a:prstGeom>
            <a:noFill/>
            <a:ln>
              <a:noFill/>
            </a:ln>
          </p:spPr>
          <p:txBody>
            <a:bodyPr spcFirstLastPara="1" wrap="square" lIns="110475" tIns="55225" rIns="110475" bIns="55225" anchor="ctr" anchorCtr="0">
              <a:noAutofit/>
            </a:bodyPr>
            <a:lstStyle/>
            <a:p>
              <a:pPr marL="0" marR="0" lvl="0" indent="0" algn="ctr" rtl="0">
                <a:lnSpc>
                  <a:spcPct val="90000"/>
                </a:lnSpc>
                <a:spcBef>
                  <a:spcPts val="0"/>
                </a:spcBef>
                <a:spcAft>
                  <a:spcPts val="0"/>
                </a:spcAft>
                <a:buClr>
                  <a:schemeClr val="lt1"/>
                </a:buClr>
                <a:buSzPts val="2900"/>
                <a:buFont typeface="Arial"/>
                <a:buNone/>
              </a:pPr>
              <a:r>
                <a:rPr lang="en-GB" sz="2900" b="0" i="0" u="none" strike="noStrike" cap="none">
                  <a:solidFill>
                    <a:schemeClr val="lt1"/>
                  </a:solidFill>
                  <a:latin typeface="Arial"/>
                  <a:ea typeface="Arial"/>
                  <a:cs typeface="Arial"/>
                  <a:sym typeface="Arial"/>
                </a:rPr>
                <a:t>6</a:t>
              </a:r>
              <a:r>
                <a:rPr lang="en-GB" sz="2900" b="0" i="0" u="none" strike="noStrike" cap="none" baseline="30000">
                  <a:solidFill>
                    <a:schemeClr val="lt1"/>
                  </a:solidFill>
                  <a:latin typeface="Arial"/>
                  <a:ea typeface="Arial"/>
                  <a:cs typeface="Arial"/>
                  <a:sym typeface="Arial"/>
                </a:rPr>
                <a:t>th</a:t>
              </a:r>
              <a:r>
                <a:rPr lang="en-GB" sz="2900" b="0" i="0" u="none" strike="noStrike" cap="none">
                  <a:solidFill>
                    <a:schemeClr val="lt1"/>
                  </a:solidFill>
                  <a:latin typeface="Arial"/>
                  <a:ea typeface="Arial"/>
                  <a:cs typeface="Arial"/>
                  <a:sym typeface="Arial"/>
                </a:rPr>
                <a:t> </a:t>
              </a:r>
              <a:r>
                <a:rPr lang="en-GB" sz="2900">
                  <a:solidFill>
                    <a:schemeClr val="lt1"/>
                  </a:solidFill>
                </a:rPr>
                <a:t>June</a:t>
              </a:r>
              <a:r>
                <a:rPr lang="en-GB" sz="2900" b="0" i="0" u="none" strike="noStrike" cap="none">
                  <a:solidFill>
                    <a:schemeClr val="lt1"/>
                  </a:solidFill>
                  <a:latin typeface="Arial"/>
                  <a:ea typeface="Arial"/>
                  <a:cs typeface="Arial"/>
                  <a:sym typeface="Arial"/>
                </a:rPr>
                <a:t> 2026</a:t>
              </a:r>
              <a:endParaRPr sz="1400" b="0" i="0" u="none" strike="noStrike" cap="none">
                <a:solidFill>
                  <a:srgbClr val="000000"/>
                </a:solidFill>
                <a:latin typeface="Arial"/>
                <a:ea typeface="Arial"/>
                <a:cs typeface="Arial"/>
                <a:sym typeface="Arial"/>
              </a:endParaRPr>
            </a:p>
          </p:txBody>
        </p:sp>
        <p:sp>
          <p:nvSpPr>
            <p:cNvPr id="203" name="Google Shape;203;p24"/>
            <p:cNvSpPr/>
            <p:nvPr/>
          </p:nvSpPr>
          <p:spPr>
            <a:xfrm rot="5400000">
              <a:off x="6731621" y="460435"/>
              <a:ext cx="837972" cy="6729984"/>
            </a:xfrm>
            <a:prstGeom prst="round2SameRect">
              <a:avLst>
                <a:gd name="adj1" fmla="val 16667"/>
                <a:gd name="adj2" fmla="val 0"/>
              </a:avLst>
            </a:prstGeom>
            <a:solidFill>
              <a:srgbClr val="DFCADB">
                <a:alpha val="89803"/>
              </a:srgbClr>
            </a:solidFill>
            <a:ln w="19050" cap="flat" cmpd="sng">
              <a:solidFill>
                <a:srgbClr val="DFCADB">
                  <a:alpha val="89803"/>
                </a:srgbClr>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4" name="Google Shape;204;p24"/>
            <p:cNvSpPr txBox="1"/>
            <p:nvPr/>
          </p:nvSpPr>
          <p:spPr>
            <a:xfrm>
              <a:off x="3785615" y="3447347"/>
              <a:ext cx="6689078" cy="756160"/>
            </a:xfrm>
            <a:prstGeom prst="rect">
              <a:avLst/>
            </a:prstGeom>
            <a:noFill/>
            <a:ln>
              <a:noFill/>
            </a:ln>
          </p:spPr>
          <p:txBody>
            <a:bodyPr spcFirstLastPara="1" wrap="square" lIns="87625" tIns="43800" rIns="87625" bIns="43800" anchor="ctr" anchorCtr="0">
              <a:noAutofit/>
            </a:bodyPr>
            <a:lstStyle/>
            <a:p>
              <a:pPr marL="228600" marR="0" lvl="1" indent="-228600" algn="l" rtl="0">
                <a:lnSpc>
                  <a:spcPct val="90000"/>
                </a:lnSpc>
                <a:spcBef>
                  <a:spcPts val="0"/>
                </a:spcBef>
                <a:spcAft>
                  <a:spcPts val="0"/>
                </a:spcAft>
                <a:buClr>
                  <a:schemeClr val="dk1"/>
                </a:buClr>
                <a:buSzPts val="2300"/>
                <a:buFont typeface="Arial"/>
                <a:buChar char="•"/>
              </a:pPr>
              <a:r>
                <a:rPr lang="en-GB" sz="2300" b="0" i="0" u="none" strike="noStrike" cap="none">
                  <a:solidFill>
                    <a:srgbClr val="000000"/>
                  </a:solidFill>
                  <a:latin typeface="Arial"/>
                  <a:ea typeface="Arial"/>
                  <a:cs typeface="Arial"/>
                  <a:sym typeface="Arial"/>
                </a:rPr>
                <a:t>Deadline for competitors to submit their forecasts. </a:t>
              </a:r>
              <a:endParaRPr sz="2300" b="0" i="0" u="none" strike="noStrike" cap="none">
                <a:solidFill>
                  <a:srgbClr val="000000"/>
                </a:solidFill>
                <a:latin typeface="Arial"/>
                <a:ea typeface="Arial"/>
                <a:cs typeface="Arial"/>
                <a:sym typeface="Arial"/>
              </a:endParaRPr>
            </a:p>
          </p:txBody>
        </p:sp>
        <p:sp>
          <p:nvSpPr>
            <p:cNvPr id="205" name="Google Shape;205;p24"/>
            <p:cNvSpPr/>
            <p:nvPr/>
          </p:nvSpPr>
          <p:spPr>
            <a:xfrm>
              <a:off x="0" y="3301694"/>
              <a:ext cx="3785616" cy="1047465"/>
            </a:xfrm>
            <a:prstGeom prst="roundRect">
              <a:avLst>
                <a:gd name="adj" fmla="val 16667"/>
              </a:avLst>
            </a:prstGeom>
            <a:solidFill>
              <a:srgbClr val="A02891"/>
            </a:solidFill>
            <a:ln w="19050" cap="flat" cmpd="sng">
              <a:solidFill>
                <a:schemeClr val="lt1"/>
              </a:solidFill>
              <a:prstDash val="solid"/>
              <a:miter lim="800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6" name="Google Shape;206;p24"/>
            <p:cNvSpPr txBox="1"/>
            <p:nvPr/>
          </p:nvSpPr>
          <p:spPr>
            <a:xfrm>
              <a:off x="51133" y="3352827"/>
              <a:ext cx="3683350" cy="945199"/>
            </a:xfrm>
            <a:prstGeom prst="rect">
              <a:avLst/>
            </a:prstGeom>
            <a:noFill/>
            <a:ln>
              <a:noFill/>
            </a:ln>
          </p:spPr>
          <p:txBody>
            <a:bodyPr spcFirstLastPara="1" wrap="square" lIns="110475" tIns="55225" rIns="110475" bIns="55225" anchor="ctr" anchorCtr="0">
              <a:noAutofit/>
            </a:bodyPr>
            <a:lstStyle/>
            <a:p>
              <a:pPr marL="0" marR="0" lvl="0" indent="0" algn="ctr" rtl="0">
                <a:lnSpc>
                  <a:spcPct val="90000"/>
                </a:lnSpc>
                <a:spcBef>
                  <a:spcPts val="0"/>
                </a:spcBef>
                <a:spcAft>
                  <a:spcPts val="0"/>
                </a:spcAft>
                <a:buClr>
                  <a:schemeClr val="lt1"/>
                </a:buClr>
                <a:buSzPts val="2900"/>
                <a:buFont typeface="Arial"/>
                <a:buNone/>
              </a:pPr>
              <a:r>
                <a:rPr lang="en-GB" sz="2900" b="0" i="0" u="none" strike="noStrike" cap="none">
                  <a:solidFill>
                    <a:schemeClr val="lt1"/>
                  </a:solidFill>
                  <a:latin typeface="Arial"/>
                  <a:ea typeface="Arial"/>
                  <a:cs typeface="Arial"/>
                  <a:sym typeface="Arial"/>
                </a:rPr>
                <a:t>20</a:t>
              </a:r>
              <a:r>
                <a:rPr lang="en-GB" sz="2900" b="0" i="0" u="none" strike="noStrike" cap="none" baseline="30000">
                  <a:solidFill>
                    <a:schemeClr val="lt1"/>
                  </a:solidFill>
                  <a:latin typeface="Arial"/>
                  <a:ea typeface="Arial"/>
                  <a:cs typeface="Arial"/>
                  <a:sym typeface="Arial"/>
                </a:rPr>
                <a:t>th</a:t>
              </a:r>
              <a:r>
                <a:rPr lang="en-GB" sz="2900" b="0" i="0" u="none" strike="noStrike" cap="none">
                  <a:solidFill>
                    <a:schemeClr val="lt1"/>
                  </a:solidFill>
                  <a:latin typeface="Arial"/>
                  <a:ea typeface="Arial"/>
                  <a:cs typeface="Arial"/>
                  <a:sym typeface="Arial"/>
                </a:rPr>
                <a:t> </a:t>
              </a:r>
              <a:r>
                <a:rPr lang="en-GB" sz="2900">
                  <a:solidFill>
                    <a:schemeClr val="lt1"/>
                  </a:solidFill>
                </a:rPr>
                <a:t>June</a:t>
              </a:r>
              <a:r>
                <a:rPr lang="en-GB" sz="2900" b="0" i="0" u="none" strike="noStrike" cap="none">
                  <a:solidFill>
                    <a:schemeClr val="lt1"/>
                  </a:solidFill>
                  <a:latin typeface="Arial"/>
                  <a:ea typeface="Arial"/>
                  <a:cs typeface="Arial"/>
                  <a:sym typeface="Arial"/>
                </a:rPr>
                <a:t> 2026</a:t>
              </a:r>
              <a:endParaRPr sz="1400" b="0" i="0" u="none" strike="noStrike" cap="none">
                <a:solidFill>
                  <a:srgbClr val="000000"/>
                </a:solidFill>
                <a:latin typeface="Arial"/>
                <a:ea typeface="Arial"/>
                <a:cs typeface="Arial"/>
                <a:sym typeface="Arial"/>
              </a:endParaRPr>
            </a:p>
          </p:txBody>
        </p:sp>
      </p:grpSp>
      <p:sp>
        <p:nvSpPr>
          <p:cNvPr id="207" name="Google Shape;207;p24"/>
          <p:cNvSpPr txBox="1"/>
          <p:nvPr/>
        </p:nvSpPr>
        <p:spPr>
          <a:xfrm>
            <a:off x="4572682" y="5148822"/>
            <a:ext cx="6689078" cy="579659"/>
          </a:xfrm>
          <a:prstGeom prst="rect">
            <a:avLst/>
          </a:prstGeom>
          <a:solidFill>
            <a:schemeClr val="accent1">
              <a:alpha val="28235"/>
            </a:schemeClr>
          </a:solidFill>
          <a:ln>
            <a:noFill/>
          </a:ln>
        </p:spPr>
        <p:txBody>
          <a:bodyPr spcFirstLastPara="1" wrap="square" lIns="87625" tIns="43800" rIns="87625" bIns="43800" anchor="ctr" anchorCtr="0">
            <a:noAutofit/>
          </a:bodyPr>
          <a:lstStyle/>
          <a:p>
            <a:pPr marL="228600" marR="0" lvl="1" indent="-228600" algn="l" rtl="0">
              <a:lnSpc>
                <a:spcPct val="90000"/>
              </a:lnSpc>
              <a:spcBef>
                <a:spcPts val="0"/>
              </a:spcBef>
              <a:spcAft>
                <a:spcPts val="0"/>
              </a:spcAft>
              <a:buClr>
                <a:schemeClr val="dk1"/>
              </a:buClr>
              <a:buSzPts val="2300"/>
              <a:buFont typeface="Arial"/>
              <a:buChar char="•"/>
            </a:pPr>
            <a:r>
              <a:rPr lang="en-GB" sz="2300" b="0" i="0" u="none" strike="noStrike" cap="none">
                <a:solidFill>
                  <a:srgbClr val="000000"/>
                </a:solidFill>
                <a:latin typeface="Arial"/>
                <a:ea typeface="Arial"/>
                <a:cs typeface="Arial"/>
                <a:sym typeface="Arial"/>
              </a:rPr>
              <a:t>Winners announced</a:t>
            </a:r>
            <a:endParaRPr sz="2300" b="0" i="0" u="none" strike="noStrike" cap="none">
              <a:solidFill>
                <a:srgbClr val="000000"/>
              </a:solidFill>
              <a:latin typeface="Arial"/>
              <a:ea typeface="Arial"/>
              <a:cs typeface="Arial"/>
              <a:sym typeface="Arial"/>
            </a:endParaRPr>
          </a:p>
        </p:txBody>
      </p:sp>
      <p:sp>
        <p:nvSpPr>
          <p:cNvPr id="208" name="Google Shape;208;p24"/>
          <p:cNvSpPr txBox="1"/>
          <p:nvPr/>
        </p:nvSpPr>
        <p:spPr>
          <a:xfrm>
            <a:off x="838200" y="5123249"/>
            <a:ext cx="3683350" cy="724573"/>
          </a:xfrm>
          <a:prstGeom prst="rect">
            <a:avLst/>
          </a:prstGeom>
          <a:noFill/>
          <a:ln>
            <a:noFill/>
          </a:ln>
        </p:spPr>
        <p:txBody>
          <a:bodyPr spcFirstLastPara="1" wrap="square" lIns="110475" tIns="55225" rIns="110475" bIns="55225" anchor="ctr" anchorCtr="0">
            <a:noAutofit/>
          </a:bodyPr>
          <a:lstStyle/>
          <a:p>
            <a:pPr marL="0" marR="0" lvl="0" indent="0" algn="ctr" rtl="0">
              <a:lnSpc>
                <a:spcPct val="90000"/>
              </a:lnSpc>
              <a:spcBef>
                <a:spcPts val="0"/>
              </a:spcBef>
              <a:spcAft>
                <a:spcPts val="0"/>
              </a:spcAft>
              <a:buClr>
                <a:schemeClr val="lt1"/>
              </a:buClr>
              <a:buSzPts val="2900"/>
              <a:buFont typeface="Arial"/>
              <a:buNone/>
            </a:pPr>
            <a:r>
              <a:rPr lang="en-GB" sz="2900">
                <a:solidFill>
                  <a:schemeClr val="lt1"/>
                </a:solidFill>
              </a:rPr>
              <a:t>July</a:t>
            </a:r>
            <a:r>
              <a:rPr lang="en-GB" sz="2900" b="0" i="0" u="none" strike="noStrike" cap="none">
                <a:solidFill>
                  <a:schemeClr val="lt1"/>
                </a:solidFill>
                <a:latin typeface="Arial"/>
                <a:ea typeface="Arial"/>
                <a:cs typeface="Arial"/>
                <a:sym typeface="Arial"/>
              </a:rPr>
              <a:t> 2026</a:t>
            </a:r>
            <a:endParaRPr sz="2900" b="0" i="0" u="none" strike="noStrike" cap="none">
              <a:solidFill>
                <a:schemeClr val="lt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a:latin typeface="Arial"/>
                <a:ea typeface="Arial"/>
                <a:cs typeface="Arial"/>
                <a:sym typeface="Arial"/>
              </a:rPr>
              <a:t>Communication</a:t>
            </a:r>
            <a:endParaRPr>
              <a:latin typeface="Arial"/>
              <a:ea typeface="Arial"/>
              <a:cs typeface="Arial"/>
              <a:sym typeface="Arial"/>
            </a:endParaRPr>
          </a:p>
        </p:txBody>
      </p:sp>
      <p:sp>
        <p:nvSpPr>
          <p:cNvPr id="214" name="Google Shape;214;p25"/>
          <p:cNvSpPr txBox="1">
            <a:spLocks noGrp="1"/>
          </p:cNvSpPr>
          <p:nvPr>
            <p:ph type="body" idx="1"/>
          </p:nvPr>
        </p:nvSpPr>
        <p:spPr>
          <a:xfrm>
            <a:off x="838200" y="1825625"/>
            <a:ext cx="6236368"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SzPts val="2800"/>
              <a:buChar char="•"/>
            </a:pPr>
            <a:r>
              <a:rPr lang="en-GB" dirty="0"/>
              <a:t>We have a SPHERE-PPL </a:t>
            </a:r>
            <a:r>
              <a:rPr lang="en-GB" dirty="0" err="1"/>
              <a:t>Zulip</a:t>
            </a:r>
            <a:r>
              <a:rPr lang="en-GB" dirty="0"/>
              <a:t> group (akin to Teams or Slack) where we will be available to answer questions and interact with the community.</a:t>
            </a:r>
            <a:endParaRPr dirty="0"/>
          </a:p>
          <a:p>
            <a:pPr marL="228600" lvl="0" indent="-228600" algn="l" rtl="0">
              <a:lnSpc>
                <a:spcPct val="90000"/>
              </a:lnSpc>
              <a:spcBef>
                <a:spcPts val="1000"/>
              </a:spcBef>
              <a:spcAft>
                <a:spcPts val="0"/>
              </a:spcAft>
              <a:buSzPts val="2800"/>
              <a:buChar char="•"/>
            </a:pPr>
            <a:r>
              <a:rPr lang="en-GB" dirty="0"/>
              <a:t>Please also use it for communicating within your own teams!</a:t>
            </a:r>
            <a:endParaRPr dirty="0"/>
          </a:p>
          <a:p>
            <a:pPr marL="228600" lvl="0" indent="-228600" algn="l" rtl="0">
              <a:lnSpc>
                <a:spcPct val="90000"/>
              </a:lnSpc>
              <a:spcBef>
                <a:spcPts val="1000"/>
              </a:spcBef>
              <a:spcAft>
                <a:spcPts val="0"/>
              </a:spcAft>
              <a:buSzPts val="2800"/>
              <a:buChar char="•"/>
            </a:pPr>
            <a:r>
              <a:rPr lang="en-GB" u="sng" dirty="0">
                <a:solidFill>
                  <a:srgbClr val="00BB64"/>
                </a:solidFill>
                <a:hlinkClick r:id="rId3">
                  <a:extLst>
                    <a:ext uri="{A12FA001-AC4F-418D-AE19-62706E023703}">
                      <ahyp:hlinkClr xmlns:ahyp="http://schemas.microsoft.com/office/drawing/2018/hyperlinkcolor" val="tx"/>
                    </a:ext>
                  </a:extLst>
                </a:hlinkClick>
              </a:rPr>
              <a:t>Join Here!</a:t>
            </a:r>
            <a:endParaRPr dirty="0">
              <a:solidFill>
                <a:srgbClr val="00BB64"/>
              </a:solidFill>
            </a:endParaRPr>
          </a:p>
        </p:txBody>
      </p:sp>
      <p:pic>
        <p:nvPicPr>
          <p:cNvPr id="215" name="Google Shape;215;p25" descr="Zulip 2.0: Open source threaded team chat : r/programming"/>
          <p:cNvPicPr preferRelativeResize="0">
            <a:picLocks noGrp="1"/>
          </p:cNvPicPr>
          <p:nvPr>
            <p:ph type="body" idx="2"/>
          </p:nvPr>
        </p:nvPicPr>
        <p:blipFill rotWithShape="1">
          <a:blip r:embed="rId4">
            <a:alphaModFix/>
          </a:blip>
          <a:srcRect/>
          <a:stretch/>
        </p:blipFill>
        <p:spPr>
          <a:xfrm>
            <a:off x="7584707" y="2464927"/>
            <a:ext cx="4202229" cy="192814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008AA5"/>
              </a:buClr>
              <a:buSzPts val="4400"/>
              <a:buFont typeface="Play"/>
              <a:buNone/>
            </a:pPr>
            <a:r>
              <a:rPr lang="en-GB"/>
              <a:t>Getting Started</a:t>
            </a:r>
            <a:endParaRPr/>
          </a:p>
        </p:txBody>
      </p:sp>
      <p:sp>
        <p:nvSpPr>
          <p:cNvPr id="221" name="Google Shape;221;p26"/>
          <p:cNvSpPr txBox="1">
            <a:spLocks noGrp="1"/>
          </p:cNvSpPr>
          <p:nvPr>
            <p:ph type="body" idx="1"/>
          </p:nvPr>
        </p:nvSpPr>
        <p:spPr>
          <a:xfrm>
            <a:off x="838200" y="1825625"/>
            <a:ext cx="5171615"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SzPts val="2800"/>
              <a:buNone/>
            </a:pPr>
            <a:r>
              <a:rPr lang="en-GB" dirty="0"/>
              <a:t>Main Link: </a:t>
            </a:r>
            <a:r>
              <a:rPr lang="en-GB" u="sng" dirty="0">
                <a:solidFill>
                  <a:srgbClr val="00BB64"/>
                </a:solidFill>
                <a:hlinkClick r:id="rId3">
                  <a:extLst>
                    <a:ext uri="{A12FA001-AC4F-418D-AE19-62706E023703}">
                      <ahyp:hlinkClr xmlns:ahyp="http://schemas.microsoft.com/office/drawing/2018/hyperlinkcolor" val="tx"/>
                    </a:ext>
                  </a:extLst>
                </a:hlinkClick>
              </a:rPr>
              <a:t>NHS Forecasting Contest</a:t>
            </a:r>
            <a:endParaRPr dirty="0">
              <a:solidFill>
                <a:srgbClr val="00BB64"/>
              </a:solidFill>
            </a:endParaRPr>
          </a:p>
          <a:p>
            <a:pPr marL="0" lvl="0" indent="0" algn="l" rtl="0">
              <a:lnSpc>
                <a:spcPct val="90000"/>
              </a:lnSpc>
              <a:spcBef>
                <a:spcPts val="1000"/>
              </a:spcBef>
              <a:spcAft>
                <a:spcPts val="0"/>
              </a:spcAft>
              <a:buSzPts val="2800"/>
              <a:buNone/>
            </a:pPr>
            <a:endParaRPr dirty="0"/>
          </a:p>
          <a:p>
            <a:pPr marL="0" lvl="0" indent="0" algn="l" rtl="0">
              <a:lnSpc>
                <a:spcPct val="90000"/>
              </a:lnSpc>
              <a:spcBef>
                <a:spcPts val="1000"/>
              </a:spcBef>
              <a:spcAft>
                <a:spcPts val="0"/>
              </a:spcAft>
              <a:buSzPts val="2800"/>
              <a:buNone/>
            </a:pPr>
            <a:r>
              <a:rPr lang="en-GB" dirty="0"/>
              <a:t>Resources</a:t>
            </a:r>
            <a:endParaRPr dirty="0"/>
          </a:p>
          <a:p>
            <a:pPr marL="228600" lvl="0" indent="-228600" algn="l" rtl="0">
              <a:lnSpc>
                <a:spcPct val="90000"/>
              </a:lnSpc>
              <a:spcBef>
                <a:spcPts val="1000"/>
              </a:spcBef>
              <a:spcAft>
                <a:spcPts val="0"/>
              </a:spcAft>
              <a:buSzPts val="2800"/>
              <a:buChar char="•"/>
            </a:pPr>
            <a:r>
              <a:rPr lang="en-GB" u="sng" dirty="0">
                <a:solidFill>
                  <a:srgbClr val="00BB64"/>
                </a:solidFill>
                <a:hlinkClick r:id="rId4">
                  <a:extLst>
                    <a:ext uri="{A12FA001-AC4F-418D-AE19-62706E023703}">
                      <ahyp:hlinkClr xmlns:ahyp="http://schemas.microsoft.com/office/drawing/2018/hyperlinkcolor" val="tx"/>
                    </a:ext>
                  </a:extLst>
                </a:hlinkClick>
              </a:rPr>
              <a:t>Overview &amp; Quick-Start Videos</a:t>
            </a:r>
            <a:endParaRPr dirty="0">
              <a:solidFill>
                <a:srgbClr val="00BB64"/>
              </a:solidFill>
            </a:endParaRPr>
          </a:p>
          <a:p>
            <a:pPr marL="228600" lvl="0" indent="-228600" algn="l" rtl="0">
              <a:lnSpc>
                <a:spcPct val="90000"/>
              </a:lnSpc>
              <a:spcBef>
                <a:spcPts val="1000"/>
              </a:spcBef>
              <a:spcAft>
                <a:spcPts val="0"/>
              </a:spcAft>
              <a:buSzPts val="2800"/>
              <a:buChar char="•"/>
            </a:pPr>
            <a:r>
              <a:rPr lang="en-GB" u="sng" dirty="0">
                <a:solidFill>
                  <a:srgbClr val="00BB64"/>
                </a:solidFill>
                <a:hlinkClick r:id="rId5">
                  <a:extLst>
                    <a:ext uri="{A12FA001-AC4F-418D-AE19-62706E023703}">
                      <ahyp:hlinkClr xmlns:ahyp="http://schemas.microsoft.com/office/drawing/2018/hyperlinkcolor" val="tx"/>
                    </a:ext>
                  </a:extLst>
                </a:hlinkClick>
              </a:rPr>
              <a:t>Example Contest – Mpox</a:t>
            </a:r>
            <a:endParaRPr dirty="0">
              <a:solidFill>
                <a:srgbClr val="00BB64"/>
              </a:solidFill>
            </a:endParaRPr>
          </a:p>
        </p:txBody>
      </p:sp>
      <p:pic>
        <p:nvPicPr>
          <p:cNvPr id="222" name="Google Shape;222;p26"/>
          <p:cNvPicPr preferRelativeResize="0"/>
          <p:nvPr/>
        </p:nvPicPr>
        <p:blipFill>
          <a:blip r:embed="rId6">
            <a:alphaModFix/>
          </a:blip>
          <a:stretch>
            <a:fillRect/>
          </a:stretch>
        </p:blipFill>
        <p:spPr>
          <a:xfrm>
            <a:off x="5901090" y="997738"/>
            <a:ext cx="5808526" cy="4862512"/>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2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008AA5"/>
              </a:buClr>
              <a:buSzPts val="6000"/>
              <a:buFont typeface="Play"/>
              <a:buNone/>
            </a:pPr>
            <a:r>
              <a:rPr lang="en-GB" dirty="0"/>
              <a:t>Thanks For Joining!</a:t>
            </a:r>
            <a:endParaRPr dirty="0"/>
          </a:p>
        </p:txBody>
      </p:sp>
      <p:sp>
        <p:nvSpPr>
          <p:cNvPr id="228" name="Google Shape;228;p2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457200" lvl="0" indent="-228600" algn="l" rtl="0">
              <a:lnSpc>
                <a:spcPct val="90000"/>
              </a:lnSpc>
              <a:spcBef>
                <a:spcPts val="1000"/>
              </a:spcBef>
              <a:spcAft>
                <a:spcPts val="0"/>
              </a:spcAft>
              <a:buSzPts val="2400"/>
              <a:buNone/>
            </a:pPr>
            <a:r>
              <a:rPr lang="en-GB" dirty="0"/>
              <a:t>Get more information at our website: </a:t>
            </a:r>
            <a:r>
              <a:rPr lang="en-GB" u="sng" dirty="0">
                <a:solidFill>
                  <a:schemeClr val="accent3"/>
                </a:solidFill>
                <a:hlinkClick r:id="rId3">
                  <a:extLst>
                    <a:ext uri="{A12FA001-AC4F-418D-AE19-62706E023703}">
                      <ahyp:hlinkClr xmlns:ahyp="http://schemas.microsoft.com/office/drawing/2018/hyperlinkcolor" val="tx"/>
                    </a:ext>
                  </a:extLst>
                </a:hlinkClick>
              </a:rPr>
              <a:t>www.sphere-ppl.org</a:t>
            </a:r>
            <a:endParaRPr dirty="0">
              <a:solidFill>
                <a:schemeClr val="accent3"/>
              </a:solidFill>
            </a:endParaRPr>
          </a:p>
          <a:p>
            <a:pPr marL="457200" lvl="0" indent="-228600" algn="l" rtl="0">
              <a:lnSpc>
                <a:spcPct val="90000"/>
              </a:lnSpc>
              <a:spcBef>
                <a:spcPts val="1000"/>
              </a:spcBef>
              <a:spcAft>
                <a:spcPts val="0"/>
              </a:spcAft>
              <a:buSzPts val="2400"/>
              <a:buNone/>
            </a:pPr>
            <a:r>
              <a:rPr lang="en-GB" dirty="0">
                <a:solidFill>
                  <a:schemeClr val="dk1"/>
                </a:solidFill>
              </a:rPr>
              <a:t>Email us at: </a:t>
            </a:r>
            <a:r>
              <a:rPr lang="en-GB" u="sng" dirty="0">
                <a:solidFill>
                  <a:schemeClr val="accent3"/>
                </a:solidFill>
                <a:hlinkClick r:id="rId4">
                  <a:extLst>
                    <a:ext uri="{A12FA001-AC4F-418D-AE19-62706E023703}">
                      <ahyp:hlinkClr xmlns:ahyp="http://schemas.microsoft.com/office/drawing/2018/hyperlinkcolor" val="tx"/>
                    </a:ext>
                  </a:extLst>
                </a:hlinkClick>
              </a:rPr>
              <a:t>info@sphere-ppl.org</a:t>
            </a:r>
            <a:r>
              <a:rPr lang="en-GB" dirty="0">
                <a:solidFill>
                  <a:schemeClr val="accent3"/>
                </a:solidFill>
              </a:rPr>
              <a:t> </a:t>
            </a:r>
            <a:endParaRPr dirty="0"/>
          </a:p>
        </p:txBody>
      </p:sp>
    </p:spTree>
  </p:cSld>
  <p:clrMapOvr>
    <a:masterClrMapping/>
  </p:clrMapOvr>
</p:sld>
</file>

<file path=ppt/theme/theme1.xml><?xml version="1.0" encoding="utf-8"?>
<a:theme xmlns:a="http://schemas.openxmlformats.org/drawingml/2006/main" name="Office Theme">
  <a:themeElements>
    <a:clrScheme name="SPHERE-PPL">
      <a:dk1>
        <a:srgbClr val="000000"/>
      </a:dk1>
      <a:lt1>
        <a:srgbClr val="FFFFFF"/>
      </a:lt1>
      <a:dk2>
        <a:srgbClr val="0E2841"/>
      </a:dk2>
      <a:lt2>
        <a:srgbClr val="E8E8E8"/>
      </a:lt2>
      <a:accent1>
        <a:srgbClr val="008AA5"/>
      </a:accent1>
      <a:accent2>
        <a:srgbClr val="FCAF00"/>
      </a:accent2>
      <a:accent3>
        <a:srgbClr val="00BB64"/>
      </a:accent3>
      <a:accent4>
        <a:srgbClr val="004D9E"/>
      </a:accent4>
      <a:accent5>
        <a:srgbClr val="A02B93"/>
      </a:accent5>
      <a:accent6>
        <a:srgbClr val="4EA72E"/>
      </a:accent6>
      <a:hlink>
        <a:srgbClr val="98FB98"/>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595</Words>
  <Application>Microsoft Macintosh PowerPoint</Application>
  <PresentationFormat>Widescreen</PresentationFormat>
  <Paragraphs>76</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Play</vt:lpstr>
      <vt:lpstr>Arial</vt:lpstr>
      <vt:lpstr>Office Theme</vt:lpstr>
      <vt:lpstr>NHS Forecasting Contest Kick-Off</vt:lpstr>
      <vt:lpstr>Outline</vt:lpstr>
      <vt:lpstr>What is SPHERE-PPL doing?</vt:lpstr>
      <vt:lpstr>Introduction</vt:lpstr>
      <vt:lpstr>Introduction</vt:lpstr>
      <vt:lpstr>Data</vt:lpstr>
      <vt:lpstr>Contest Outputs</vt:lpstr>
      <vt:lpstr>Contest Rules</vt:lpstr>
      <vt:lpstr>Contest Winners</vt:lpstr>
      <vt:lpstr>Contest Timeline</vt:lpstr>
      <vt:lpstr>Communication</vt:lpstr>
      <vt:lpstr>Getting Started</vt:lpstr>
      <vt:lpstr>Thanks For Joining!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Daniela Díaz Catalán</cp:lastModifiedBy>
  <cp:revision>1</cp:revision>
  <dcterms:modified xsi:type="dcterms:W3CDTF">2026-05-28T02:17:06Z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4b5bc9e-66af-47a2-bdb7-e8d552eb4a96_Enabled">
    <vt:lpwstr>true</vt:lpwstr>
  </property>
  <property fmtid="{D5CDD505-2E9C-101B-9397-08002B2CF9AE}" pid="3" name="MSIP_Label_c4b5bc9e-66af-47a2-bdb7-e8d552eb4a96_SetDate">
    <vt:lpwstr>2026-05-05T18:23:58Z</vt:lpwstr>
  </property>
  <property fmtid="{D5CDD505-2E9C-101B-9397-08002B2CF9AE}" pid="4" name="MSIP_Label_c4b5bc9e-66af-47a2-bdb7-e8d552eb4a96_Method">
    <vt:lpwstr>Privileged</vt:lpwstr>
  </property>
  <property fmtid="{D5CDD505-2E9C-101B-9397-08002B2CF9AE}" pid="5" name="MSIP_Label_c4b5bc9e-66af-47a2-bdb7-e8d552eb4a96_Name">
    <vt:lpwstr>Público</vt:lpwstr>
  </property>
  <property fmtid="{D5CDD505-2E9C-101B-9397-08002B2CF9AE}" pid="6" name="MSIP_Label_c4b5bc9e-66af-47a2-bdb7-e8d552eb4a96_SiteId">
    <vt:lpwstr>0dc2d1a0-913c-4a0d-b1a7-3e857d4cccdb</vt:lpwstr>
  </property>
  <property fmtid="{D5CDD505-2E9C-101B-9397-08002B2CF9AE}" pid="7" name="MSIP_Label_c4b5bc9e-66af-47a2-bdb7-e8d552eb4a96_ActionId">
    <vt:lpwstr>ee8b96d8-5b43-4573-8756-36fd07bdcabc</vt:lpwstr>
  </property>
  <property fmtid="{D5CDD505-2E9C-101B-9397-08002B2CF9AE}" pid="8" name="MSIP_Label_c4b5bc9e-66af-47a2-bdb7-e8d552eb4a96_ContentBits">
    <vt:lpwstr>0</vt:lpwstr>
  </property>
  <property fmtid="{D5CDD505-2E9C-101B-9397-08002B2CF9AE}" pid="9" name="MSIP_Label_c4b5bc9e-66af-47a2-bdb7-e8d552eb4a96_Tag">
    <vt:lpwstr>50, 0, 1, 1</vt:lpwstr>
  </property>
</Properties>
</file>